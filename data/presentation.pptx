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wdp" ContentType="image/vnd.ms-photo"/>
  <Default Extension="web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media/image10.jpg" ContentType="image/jpeg"/>
  <Override PartName="/ppt/media/image11.jpg" ContentType="image/jpeg"/>
  <Override PartName="/ppt/media/image12.jpg" ContentType="image/jpeg"/>
  <Override PartName="/ppt/media/image13.jpg" ContentType="image/jpeg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82" r:id="rId2"/>
    <p:sldId id="256" r:id="rId3"/>
    <p:sldId id="257" r:id="rId4"/>
    <p:sldId id="258" r:id="rId5"/>
    <p:sldId id="267" r:id="rId6"/>
    <p:sldId id="260" r:id="rId7"/>
    <p:sldId id="261" r:id="rId8"/>
    <p:sldId id="262" r:id="rId9"/>
    <p:sldId id="263" r:id="rId10"/>
    <p:sldId id="264" r:id="rId11"/>
    <p:sldId id="265" r:id="rId12"/>
    <p:sldId id="268" r:id="rId13"/>
    <p:sldId id="266" r:id="rId14"/>
    <p:sldId id="283" r:id="rId15"/>
    <p:sldId id="270" r:id="rId16"/>
    <p:sldId id="271" r:id="rId17"/>
    <p:sldId id="273" r:id="rId18"/>
    <p:sldId id="272" r:id="rId19"/>
    <p:sldId id="274" r:id="rId20"/>
    <p:sldId id="275" r:id="rId21"/>
    <p:sldId id="277" r:id="rId22"/>
    <p:sldId id="278" r:id="rId23"/>
    <p:sldId id="276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2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57932" autoAdjust="0"/>
  </p:normalViewPr>
  <p:slideViewPr>
    <p:cSldViewPr snapToGrid="0">
      <p:cViewPr>
        <p:scale>
          <a:sx n="66" d="100"/>
          <a:sy n="66" d="100"/>
        </p:scale>
        <p:origin x="1301" y="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6643E4-AC66-47B5-A6D6-AE2675E8369D}" type="datetimeFigureOut">
              <a:rPr lang="fr-FR" smtClean="0"/>
              <a:t>21/11/2024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DB3D4A-A50F-4A48-A4AA-35298334BFA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2919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Merci de m’avoir donner la parole</a:t>
            </a:r>
          </a:p>
          <a:p>
            <a:r>
              <a:rPr lang="fr-FR" dirty="0"/>
              <a:t>Madame et messieurs les jury, honorables assistance, bonjour;</a:t>
            </a:r>
          </a:p>
          <a:p>
            <a:r>
              <a:rPr lang="fr-FR" dirty="0"/>
              <a:t>J’ai l’honneur de vous présenter aujourd’hui mon mémoire de fin d’</a:t>
            </a:r>
            <a:r>
              <a:rPr lang="fr-FR" dirty="0" err="1"/>
              <a:t>etude</a:t>
            </a:r>
            <a:r>
              <a:rPr lang="fr-FR" dirty="0"/>
              <a:t> pour l’obtention du diplôme de master professionnel en informatique intitulé</a:t>
            </a:r>
          </a:p>
          <a:p>
            <a:r>
              <a:rPr lang="fr-FR" dirty="0"/>
              <a:t>Conception et réalisation d’un outil de gestion et management de projet pour </a:t>
            </a:r>
            <a:r>
              <a:rPr lang="fr-FR" dirty="0" err="1"/>
              <a:t>ravinala</a:t>
            </a:r>
            <a:r>
              <a:rPr lang="fr-FR" dirty="0"/>
              <a:t> </a:t>
            </a:r>
            <a:r>
              <a:rPr lang="fr-FR" dirty="0" err="1"/>
              <a:t>airport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B3D4A-A50F-4A48-A4AA-35298334BFA8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2208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Cette présentation se fera en 4 étapes distinctes à savoir: </a:t>
            </a:r>
            <a:r>
              <a:rPr lang="fr-FR" b="1" dirty="0"/>
              <a:t>click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B3D4A-A50F-4A48-A4AA-35298334BFA8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88733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La présentation de l’</a:t>
            </a:r>
            <a:r>
              <a:rPr lang="fr-FR" dirty="0" err="1"/>
              <a:t>ecole</a:t>
            </a:r>
            <a:r>
              <a:rPr lang="fr-FR" dirty="0"/>
              <a:t> et de l’entreprise </a:t>
            </a:r>
            <a:r>
              <a:rPr lang="fr-FR" dirty="0" err="1"/>
              <a:t>hote</a:t>
            </a:r>
            <a:r>
              <a:rPr lang="fr-FR" dirty="0"/>
              <a:t>, </a:t>
            </a:r>
            <a:r>
              <a:rPr lang="fr-FR" b="1" dirty="0"/>
              <a:t>click</a:t>
            </a:r>
            <a:endParaRPr lang="fr-FR" dirty="0"/>
          </a:p>
          <a:p>
            <a:r>
              <a:rPr lang="fr-FR" dirty="0"/>
              <a:t>L’analyse et la conception; pour </a:t>
            </a:r>
            <a:r>
              <a:rPr lang="fr-FR" dirty="0" err="1"/>
              <a:t>developper</a:t>
            </a:r>
            <a:r>
              <a:rPr lang="fr-FR" dirty="0"/>
              <a:t> le contexte du projet, </a:t>
            </a:r>
            <a:r>
              <a:rPr lang="fr-FR" b="1" dirty="0"/>
              <a:t>click</a:t>
            </a:r>
          </a:p>
          <a:p>
            <a:r>
              <a:rPr lang="fr-FR" dirty="0"/>
              <a:t>La partie réalisation </a:t>
            </a:r>
            <a:r>
              <a:rPr lang="fr-FR" b="1" dirty="0"/>
              <a:t>(click)</a:t>
            </a:r>
            <a:r>
              <a:rPr lang="fr-FR" dirty="0"/>
              <a:t> avant de finir par la démonstration de l’outil </a:t>
            </a:r>
            <a:r>
              <a:rPr lang="fr-FR" b="1" dirty="0"/>
              <a:t>click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B3D4A-A50F-4A48-A4AA-35298334BFA8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57051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Sans </a:t>
            </a:r>
            <a:r>
              <a:rPr lang="en-GB" dirty="0" err="1"/>
              <a:t>attendre</a:t>
            </a:r>
            <a:r>
              <a:rPr lang="en-GB" dirty="0"/>
              <a:t> </a:t>
            </a:r>
            <a:r>
              <a:rPr lang="en-GB" dirty="0" err="1"/>
              <a:t>debutons</a:t>
            </a:r>
            <a:r>
              <a:rPr lang="en-GB" dirty="0"/>
              <a:t> par la </a:t>
            </a:r>
            <a:r>
              <a:rPr lang="en-GB" dirty="0" err="1"/>
              <a:t>partie</a:t>
            </a:r>
            <a:r>
              <a:rPr lang="en-GB" dirty="0"/>
              <a:t> Presentation. </a:t>
            </a:r>
            <a:r>
              <a:rPr lang="en-GB" b="1" dirty="0"/>
              <a:t>Click</a:t>
            </a:r>
            <a:endParaRPr lang="fr-FR" b="1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B3D4A-A50F-4A48-A4AA-35298334BFA8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25938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L’ecole</a:t>
            </a:r>
            <a:r>
              <a:rPr lang="en-GB" dirty="0"/>
              <a:t> </a:t>
            </a:r>
            <a:r>
              <a:rPr lang="en-GB" dirty="0" err="1"/>
              <a:t>nationale</a:t>
            </a:r>
            <a:r>
              <a:rPr lang="en-GB" dirty="0"/>
              <a:t> </a:t>
            </a:r>
            <a:r>
              <a:rPr lang="en-GB" dirty="0" err="1"/>
              <a:t>d’informatique</a:t>
            </a:r>
            <a:r>
              <a:rPr lang="en-GB" dirty="0"/>
              <a:t> </a:t>
            </a:r>
            <a:r>
              <a:rPr lang="en-GB" dirty="0" err="1"/>
              <a:t>abrégé</a:t>
            </a:r>
            <a:r>
              <a:rPr lang="en-GB" dirty="0"/>
              <a:t> ENI a </a:t>
            </a:r>
            <a:r>
              <a:rPr lang="en-GB" dirty="0" err="1"/>
              <a:t>été</a:t>
            </a:r>
            <a:r>
              <a:rPr lang="en-GB" dirty="0"/>
              <a:t> </a:t>
            </a:r>
            <a:r>
              <a:rPr lang="en-GB" dirty="0" err="1"/>
              <a:t>créé</a:t>
            </a:r>
            <a:r>
              <a:rPr lang="en-GB" dirty="0"/>
              <a:t> le 24 </a:t>
            </a:r>
            <a:r>
              <a:rPr lang="en-GB" dirty="0" err="1"/>
              <a:t>mai</a:t>
            </a:r>
            <a:r>
              <a:rPr lang="en-GB" dirty="0"/>
              <a:t> 1983 par le </a:t>
            </a:r>
            <a:r>
              <a:rPr lang="en-GB" dirty="0" err="1"/>
              <a:t>décret</a:t>
            </a:r>
            <a:r>
              <a:rPr lang="en-GB" dirty="0"/>
              <a:t> 83-185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 err="1"/>
              <a:t>Situé</a:t>
            </a:r>
            <a:r>
              <a:rPr lang="en-GB" dirty="0"/>
              <a:t> a </a:t>
            </a:r>
            <a:r>
              <a:rPr lang="fr-FR" dirty="0" err="1"/>
              <a:t>Tanambao</a:t>
            </a:r>
            <a:r>
              <a:rPr lang="fr-FR" dirty="0"/>
              <a:t> </a:t>
            </a:r>
            <a:r>
              <a:rPr lang="fr-FR" dirty="0" err="1"/>
              <a:t>Antaninarenina</a:t>
            </a:r>
            <a:r>
              <a:rPr lang="fr-FR" dirty="0"/>
              <a:t> Fianarantsoa et joignable par les contacts affiché sur l’écran</a:t>
            </a:r>
          </a:p>
          <a:p>
            <a:endParaRPr lang="en-GB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B3D4A-A50F-4A48-A4AA-35298334BFA8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16254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ENI a pour mission de :</a:t>
            </a:r>
          </a:p>
          <a:p>
            <a:pPr marL="171450" indent="-171450">
              <a:buFontTx/>
              <a:buChar char="-"/>
            </a:pPr>
            <a:r>
              <a:rPr lang="fr-FR" dirty="0"/>
              <a:t>fournir des connaissances de base en informatique</a:t>
            </a:r>
          </a:p>
          <a:p>
            <a:pPr marL="171450" indent="-171450">
              <a:buFontTx/>
              <a:buChar char="-"/>
            </a:pPr>
            <a:r>
              <a:rPr lang="fr-FR" dirty="0"/>
              <a:t>Transmettre le savoir faire requis à travers la professionnalisation</a:t>
            </a:r>
          </a:p>
          <a:p>
            <a:pPr marL="171450" indent="-171450">
              <a:buFontTx/>
              <a:buChar char="-"/>
            </a:pPr>
            <a:r>
              <a:rPr lang="fr-FR" dirty="0"/>
              <a:t>Et initier aux activités de recherche . </a:t>
            </a:r>
            <a:r>
              <a:rPr lang="fr-FR" b="1" dirty="0"/>
              <a:t>Click</a:t>
            </a:r>
            <a:endParaRPr lang="fr-FR" b="0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B3D4A-A50F-4A48-A4AA-35298334BFA8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8918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L’ENI </a:t>
            </a:r>
            <a:r>
              <a:rPr lang="fr-FR" dirty="0" err="1"/>
              <a:t>possede</a:t>
            </a:r>
            <a:r>
              <a:rPr lang="fr-FR" dirty="0"/>
              <a:t> la mention informatique qui comprend les parcours</a:t>
            </a:r>
          </a:p>
          <a:p>
            <a:pPr marL="171450" indent="-171450">
              <a:buFontTx/>
              <a:buChar char="-"/>
            </a:pPr>
            <a:r>
              <a:rPr lang="fr-FR" dirty="0"/>
              <a:t>Génie Logiciel et Base de Données</a:t>
            </a:r>
          </a:p>
          <a:p>
            <a:pPr marL="171450" indent="-171450">
              <a:buFontTx/>
              <a:buChar char="-"/>
            </a:pPr>
            <a:r>
              <a:rPr lang="fr-FR" dirty="0"/>
              <a:t>Administration des Systèmes et Réseaux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fr-FR" dirty="0"/>
              <a:t>Informatique Générale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Et depuis 2023 la mention intelligence artificielle avec les parcours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Gouvernance et Ingénierie de Données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Objets Connectés et Cyber sécurités </a:t>
            </a:r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B3D4A-A50F-4A48-A4AA-35298334BFA8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00117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Passons à la présentation de l’entreprise </a:t>
            </a:r>
            <a:r>
              <a:rPr lang="fr-FR" dirty="0" err="1"/>
              <a:t>hote</a:t>
            </a:r>
            <a:r>
              <a:rPr lang="fr-FR" dirty="0"/>
              <a:t>; </a:t>
            </a:r>
          </a:p>
          <a:p>
            <a:r>
              <a:rPr lang="fr-FR" dirty="0"/>
              <a:t>Ravinala </a:t>
            </a:r>
            <a:r>
              <a:rPr lang="fr-FR" dirty="0" err="1"/>
              <a:t>airports</a:t>
            </a:r>
            <a:r>
              <a:rPr lang="fr-FR" dirty="0"/>
              <a:t> est une entreprise gérant les infrastructures des aéroports </a:t>
            </a:r>
            <a:r>
              <a:rPr lang="fr-FR" dirty="0" err="1"/>
              <a:t>d’antananarivo</a:t>
            </a:r>
            <a:r>
              <a:rPr lang="fr-FR" dirty="0"/>
              <a:t> et de </a:t>
            </a:r>
            <a:r>
              <a:rPr lang="fr-FR" dirty="0" err="1"/>
              <a:t>nosy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pour une durée de 28 ans à compter de décembre 2016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B3D4A-A50F-4A48-A4AA-35298334BFA8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75038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Les valeurs que </a:t>
            </a:r>
            <a:r>
              <a:rPr lang="fr-FR" dirty="0" err="1"/>
              <a:t>ravinala</a:t>
            </a:r>
            <a:r>
              <a:rPr lang="fr-FR" dirty="0"/>
              <a:t> </a:t>
            </a:r>
            <a:r>
              <a:rPr lang="fr-FR" dirty="0" err="1"/>
              <a:t>pronent</a:t>
            </a:r>
            <a:r>
              <a:rPr lang="fr-FR" dirty="0"/>
              <a:t> font la base de sa raison d’</a:t>
            </a:r>
            <a:r>
              <a:rPr lang="fr-FR" dirty="0" err="1"/>
              <a:t>etre</a:t>
            </a:r>
            <a:r>
              <a:rPr lang="fr-FR" dirty="0"/>
              <a:t>, cette base s’exprime par </a:t>
            </a:r>
          </a:p>
          <a:p>
            <a:r>
              <a:rPr lang="fr-FR" dirty="0"/>
              <a:t>La Bienveillance</a:t>
            </a:r>
          </a:p>
          <a:p>
            <a:r>
              <a:rPr lang="fr-FR" dirty="0"/>
              <a:t>L’ambition</a:t>
            </a:r>
          </a:p>
          <a:p>
            <a:r>
              <a:rPr lang="fr-FR" dirty="0"/>
              <a:t>Le sens du service et </a:t>
            </a:r>
          </a:p>
          <a:p>
            <a:r>
              <a:rPr lang="fr-FR" dirty="0"/>
              <a:t>L’engagement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B3D4A-A50F-4A48-A4AA-35298334BFA8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21900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Ravinala a pour mission première l’entretient, la maintenance et renouvellement des bien et infrastructures des deux aéroports,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>
                <a:solidFill>
                  <a:schemeClr val="accent2">
                    <a:lumMod val="75000"/>
                  </a:schemeClr>
                </a:solidFill>
                <a:latin typeface="Coco Gothic Bold" panose="020B0604020202020204" charset="0"/>
                <a:ea typeface="Cambria" panose="02040503050406030204" pitchFamily="18" charset="0"/>
              </a:rPr>
              <a:t>Ainsi que La fourniture de tous les services aéroportuaires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B3D4A-A50F-4A48-A4AA-35298334BFA8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42968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Passons a la description du projet</a:t>
            </a:r>
          </a:p>
          <a:p>
            <a:r>
              <a:rPr lang="fr-FR" dirty="0"/>
              <a:t>Ravinala souhaite pouvoir gérer touts ses projets, en ayant un visuel sur le budget, les ressources, et les avancements de chaque projet,</a:t>
            </a:r>
          </a:p>
          <a:p>
            <a:r>
              <a:rPr lang="fr-FR" dirty="0"/>
              <a:t>En plus, </a:t>
            </a:r>
            <a:r>
              <a:rPr lang="fr-FR" dirty="0" err="1"/>
              <a:t>ravinala</a:t>
            </a:r>
            <a:r>
              <a:rPr lang="fr-FR" dirty="0"/>
              <a:t> souhaite avoir un visuel des activité de chacun du personnel, que ce soit une activité projet, une activité transverse, ou un </a:t>
            </a:r>
            <a:r>
              <a:rPr lang="fr-FR" dirty="0" err="1"/>
              <a:t>intercontract</a:t>
            </a:r>
            <a:r>
              <a:rPr lang="fr-FR" dirty="0"/>
              <a:t>.</a:t>
            </a:r>
          </a:p>
          <a:p>
            <a:endParaRPr lang="fr-FR" dirty="0"/>
          </a:p>
          <a:p>
            <a:r>
              <a:rPr lang="fr-FR" dirty="0"/>
              <a:t>C’est quoi une activité transverse et </a:t>
            </a:r>
            <a:r>
              <a:rPr lang="fr-FR" dirty="0" err="1"/>
              <a:t>intercontract</a:t>
            </a:r>
            <a:r>
              <a:rPr lang="fr-FR" dirty="0"/>
              <a:t> ?  Une activité transverse fait référence a des activité qui traverse plusieurs départements au sein de l’entreprise, elle n’es pas spécifique à un seul domaine, comme les réunions, les inductions ou les formations,</a:t>
            </a:r>
          </a:p>
          <a:p>
            <a:endParaRPr lang="fr-FR" dirty="0"/>
          </a:p>
          <a:p>
            <a:r>
              <a:rPr lang="fr-FR" dirty="0"/>
              <a:t>Quant a l’</a:t>
            </a:r>
            <a:r>
              <a:rPr lang="fr-FR" dirty="0" err="1"/>
              <a:t>intercontract</a:t>
            </a:r>
            <a:r>
              <a:rPr lang="fr-FR" dirty="0"/>
              <a:t> 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désigne la période pendant laquelle un employé n’est pas en mission chez un client ou en mission sur un projet comme les veille technologique, ou les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evenements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d’entreprise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B3D4A-A50F-4A48-A4AA-35298334BFA8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63709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Passons a l’analyse et conception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B3D4A-A50F-4A48-A4AA-35298334BFA8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22662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Ravinala </a:t>
            </a:r>
            <a:r>
              <a:rPr lang="fr-FR" dirty="0" err="1"/>
              <a:t>airports</a:t>
            </a:r>
            <a:r>
              <a:rPr lang="fr-FR" dirty="0"/>
              <a:t> </a:t>
            </a:r>
            <a:r>
              <a:rPr lang="fr-FR" dirty="0" err="1"/>
              <a:t>possedent</a:t>
            </a:r>
            <a:r>
              <a:rPr lang="fr-FR" dirty="0"/>
              <a:t> en tout 9 départements qui </a:t>
            </a:r>
            <a:r>
              <a:rPr lang="fr-FR" dirty="0" err="1"/>
              <a:t>gerent</a:t>
            </a:r>
            <a:r>
              <a:rPr lang="fr-FR" dirty="0"/>
              <a:t> chacun leurs projets de leurs </a:t>
            </a:r>
            <a:r>
              <a:rPr lang="fr-FR" dirty="0" err="1"/>
              <a:t>facon</a:t>
            </a:r>
            <a:r>
              <a:rPr lang="fr-FR" dirty="0"/>
              <a:t>, que ce soit avec planner, </a:t>
            </a:r>
            <a:r>
              <a:rPr lang="fr-FR" dirty="0" err="1"/>
              <a:t>loop</a:t>
            </a:r>
            <a:r>
              <a:rPr lang="fr-FR" dirty="0"/>
              <a:t> ou ,même avec des tableau </a:t>
            </a:r>
            <a:r>
              <a:rPr lang="fr-FR" dirty="0" err="1"/>
              <a:t>excels</a:t>
            </a:r>
            <a:endParaRPr lang="fr-FR" dirty="0"/>
          </a:p>
          <a:p>
            <a:r>
              <a:rPr lang="fr-FR" dirty="0"/>
              <a:t>Ce qui fait que chaque supérieur hiérarchique et chef de départements ont leurs propre visuel sur les projets de ses subordonnées, </a:t>
            </a:r>
          </a:p>
          <a:p>
            <a:r>
              <a:rPr lang="fr-FR" dirty="0"/>
              <a:t>Il est par ailleurs difficile de ce fait de savoir sur quel projet une personne travaille dans la journée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B3D4A-A50F-4A48-A4AA-35298334BFA8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98143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Pour essayer de répondre a ses demandes, nous avons trouvé 3 solutions possibles qui sont</a:t>
            </a:r>
          </a:p>
          <a:p>
            <a:pPr marL="171450" indent="-171450">
              <a:buFontTx/>
              <a:buChar char="-"/>
            </a:pPr>
            <a:r>
              <a:rPr lang="fr-FR" dirty="0"/>
              <a:t>Utiliser </a:t>
            </a:r>
            <a:r>
              <a:rPr lang="fr-FR" dirty="0" err="1"/>
              <a:t>microsoft</a:t>
            </a:r>
            <a:r>
              <a:rPr lang="fr-FR" dirty="0"/>
              <a:t> </a:t>
            </a:r>
            <a:r>
              <a:rPr lang="fr-FR" dirty="0" err="1"/>
              <a:t>project</a:t>
            </a:r>
            <a:r>
              <a:rPr lang="fr-FR" dirty="0"/>
              <a:t> pro; facile a mettre en place mais couteuse a cause du cout de la licence</a:t>
            </a:r>
          </a:p>
          <a:p>
            <a:pPr marL="171450" indent="-171450">
              <a:buFontTx/>
              <a:buChar char="-"/>
            </a:pPr>
            <a:r>
              <a:rPr lang="fr-FR" dirty="0"/>
              <a:t>Utiliser la partie gestion de projet de GLPI; déjà disponible mais difficile a utiliser avec beaucoup de détails inutiles, Ravinala a déjà essayé cette solution mais du a la difficulté de l’utilisation par les utilisateurs, elle a été délaissé après un certain temps</a:t>
            </a:r>
          </a:p>
          <a:p>
            <a:pPr marL="171450" indent="-171450">
              <a:buFontTx/>
              <a:buChar char="-"/>
            </a:pPr>
            <a:r>
              <a:rPr lang="fr-FR" dirty="0"/>
              <a:t>Créer un outil de gestion et de management de projet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B3D4A-A50F-4A48-A4AA-35298334BFA8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38795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ON a opter pour la solution 3 </a:t>
            </a:r>
            <a:r>
              <a:rPr lang="fr-FR" dirty="0" err="1"/>
              <a:t>parceque</a:t>
            </a:r>
            <a:r>
              <a:rPr lang="fr-FR" dirty="0"/>
              <a:t> c’est gratuit et qu’elle répond aux besoins spécifique de l’organisation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B3D4A-A50F-4A48-A4AA-35298334BFA8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53234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Passsons</a:t>
            </a:r>
            <a:r>
              <a:rPr lang="fr-FR" dirty="0"/>
              <a:t> a la conception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B3D4A-A50F-4A48-A4AA-35298334BFA8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02138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La figure sur l’</a:t>
            </a:r>
            <a:r>
              <a:rPr lang="fr-FR" dirty="0" err="1"/>
              <a:t>ecran</a:t>
            </a:r>
            <a:r>
              <a:rPr lang="fr-FR" dirty="0"/>
              <a:t> illustre le model de domaine de l’application en </a:t>
            </a:r>
            <a:r>
              <a:rPr lang="fr-FR" dirty="0" err="1"/>
              <a:t>définnissant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classes qui modélisent les entités</a:t>
            </a:r>
            <a:r>
              <a:rPr lang="fr-FR" dirty="0"/>
              <a:t> ,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B3D4A-A50F-4A48-A4AA-35298334BFA8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95438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La figure sur l’</a:t>
            </a:r>
            <a:r>
              <a:rPr lang="fr-FR" dirty="0" err="1"/>
              <a:t>ecran</a:t>
            </a:r>
            <a:r>
              <a:rPr lang="fr-FR" dirty="0"/>
              <a:t> représente l’architecture serveur pour l’application</a:t>
            </a:r>
          </a:p>
          <a:p>
            <a:r>
              <a:rPr lang="fr-FR" dirty="0"/>
              <a:t>On utilise les identifiants active directory pour l’authentification de l’application </a:t>
            </a:r>
          </a:p>
          <a:p>
            <a:r>
              <a:rPr lang="fr-FR" dirty="0"/>
              <a:t>Un serveur IIS pour le serveur front et back end; </a:t>
            </a:r>
          </a:p>
          <a:p>
            <a:r>
              <a:rPr lang="fr-FR" dirty="0"/>
              <a:t>Et </a:t>
            </a:r>
            <a:r>
              <a:rPr lang="fr-FR" dirty="0" err="1"/>
              <a:t>microsoft</a:t>
            </a:r>
            <a:r>
              <a:rPr lang="fr-FR" dirty="0"/>
              <a:t> 365 avec </a:t>
            </a:r>
            <a:r>
              <a:rPr lang="fr-FR" dirty="0" err="1"/>
              <a:t>outlook</a:t>
            </a:r>
            <a:r>
              <a:rPr lang="fr-FR" dirty="0"/>
              <a:t> pour les envoie de mail et notifications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B3D4A-A50F-4A48-A4AA-35298334BFA8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69867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Enchainos</a:t>
            </a:r>
            <a:r>
              <a:rPr lang="fr-FR" dirty="0"/>
              <a:t> avec l’architecture de l’application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B3D4A-A50F-4A48-A4AA-35298334BFA8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01422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L’architecture utilisé est une architecture en 4 couches ou architecture en 4tiers</a:t>
            </a:r>
          </a:p>
          <a:p>
            <a:pPr marL="171450" indent="-171450">
              <a:buFontTx/>
              <a:buChar char="-"/>
            </a:pPr>
            <a:r>
              <a:rPr lang="fr-FR" dirty="0"/>
              <a:t>La </a:t>
            </a:r>
            <a:r>
              <a:rPr lang="fr-FR" dirty="0" err="1"/>
              <a:t>premiere</a:t>
            </a:r>
            <a:r>
              <a:rPr lang="fr-FR" dirty="0"/>
              <a:t> couche est la couche présentation qui est responsable de gérer l’interface utilisateur ou user interface</a:t>
            </a:r>
          </a:p>
          <a:p>
            <a:pPr marL="171450" indent="-171450">
              <a:buFontTx/>
              <a:buChar char="-"/>
            </a:pPr>
            <a:r>
              <a:rPr lang="fr-FR" dirty="0"/>
              <a:t>La seconde couche est la couche de service qui </a:t>
            </a:r>
            <a:r>
              <a:rPr lang="fr-FR" dirty="0" err="1"/>
              <a:t>gérent</a:t>
            </a:r>
            <a:r>
              <a:rPr lang="fr-FR" dirty="0"/>
              <a:t> toutes </a:t>
            </a:r>
            <a:r>
              <a:rPr lang="fr-FR" dirty="0" err="1"/>
              <a:t>requetes</a:t>
            </a:r>
            <a:r>
              <a:rPr lang="fr-FR" dirty="0"/>
              <a:t> partant du front end vers la partie back end</a:t>
            </a:r>
          </a:p>
          <a:p>
            <a:pPr marL="171450" indent="-171450">
              <a:buFontTx/>
              <a:buChar char="-"/>
            </a:pPr>
            <a:r>
              <a:rPr lang="fr-FR" dirty="0"/>
              <a:t>La </a:t>
            </a:r>
            <a:r>
              <a:rPr lang="fr-FR" dirty="0" err="1"/>
              <a:t>troisieme</a:t>
            </a:r>
            <a:r>
              <a:rPr lang="fr-FR" dirty="0"/>
              <a:t> couche est la couche d’accès aux données qui </a:t>
            </a:r>
            <a:r>
              <a:rPr lang="fr-FR" dirty="0" err="1"/>
              <a:t>intéragit</a:t>
            </a:r>
            <a:r>
              <a:rPr lang="fr-FR" dirty="0"/>
              <a:t> directement avec la base de donnée pour récupérer, insérer, modifier ou supprimer des données</a:t>
            </a:r>
          </a:p>
          <a:p>
            <a:pPr marL="171450" indent="-171450">
              <a:buFontTx/>
              <a:buChar char="-"/>
            </a:pPr>
            <a:r>
              <a:rPr lang="fr-FR" dirty="0"/>
              <a:t>La </a:t>
            </a:r>
            <a:r>
              <a:rPr lang="fr-FR" dirty="0" err="1"/>
              <a:t>derdière</a:t>
            </a:r>
            <a:r>
              <a:rPr lang="fr-FR" dirty="0"/>
              <a:t> couche est la couche de données	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B3D4A-A50F-4A48-A4AA-35298334BFA8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24952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Pour la réalisation nous avons utiliser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B3D4A-A50F-4A48-A4AA-35298334BFA8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3909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fr-FR" dirty="0"/>
              <a:t>Visual </a:t>
            </a:r>
            <a:r>
              <a:rPr lang="fr-FR" dirty="0" err="1"/>
              <a:t>paradigm</a:t>
            </a:r>
            <a:r>
              <a:rPr lang="fr-FR" dirty="0"/>
              <a:t> pour la conception et modélisation avant projet</a:t>
            </a:r>
          </a:p>
          <a:p>
            <a:pPr marL="171450" indent="-171450">
              <a:buFontTx/>
              <a:buChar char="-"/>
            </a:pPr>
            <a:r>
              <a:rPr lang="fr-FR" dirty="0"/>
              <a:t>Git pour le gestion des versions de l’application</a:t>
            </a:r>
          </a:p>
          <a:p>
            <a:pPr marL="171450" indent="-171450">
              <a:buFontTx/>
              <a:buChar char="-"/>
            </a:pPr>
            <a:r>
              <a:rPr lang="fr-FR" dirty="0"/>
              <a:t>React vite pour le </a:t>
            </a:r>
            <a:r>
              <a:rPr lang="fr-FR" dirty="0" err="1"/>
              <a:t>developpement</a:t>
            </a:r>
            <a:r>
              <a:rPr lang="fr-FR" dirty="0"/>
              <a:t> de la partie front end</a:t>
            </a:r>
          </a:p>
          <a:p>
            <a:pPr marL="171450" indent="-171450">
              <a:buFontTx/>
              <a:buChar char="-"/>
            </a:pPr>
            <a:r>
              <a:rPr lang="fr-FR" dirty="0"/>
              <a:t>Et puisque </a:t>
            </a:r>
            <a:r>
              <a:rPr lang="fr-FR" dirty="0" err="1"/>
              <a:t>ravinala</a:t>
            </a:r>
            <a:r>
              <a:rPr lang="fr-FR" dirty="0"/>
              <a:t> utilise principalement des outils </a:t>
            </a:r>
            <a:r>
              <a:rPr lang="fr-FR" dirty="0" err="1"/>
              <a:t>microsoft</a:t>
            </a:r>
            <a:r>
              <a:rPr lang="fr-FR" dirty="0"/>
              <a:t> on a choisi la conformité en utilisant</a:t>
            </a:r>
          </a:p>
          <a:p>
            <a:pPr marL="171450" indent="-171450">
              <a:buFontTx/>
              <a:buChar char="-"/>
            </a:pPr>
            <a:r>
              <a:rPr lang="fr-FR" dirty="0" err="1"/>
              <a:t>Dotnet</a:t>
            </a:r>
            <a:r>
              <a:rPr lang="fr-FR" dirty="0"/>
              <a:t> pour la partie backend</a:t>
            </a:r>
          </a:p>
          <a:p>
            <a:pPr marL="171450" indent="-171450">
              <a:buFontTx/>
              <a:buChar char="-"/>
            </a:pPr>
            <a:r>
              <a:rPr lang="fr-FR" dirty="0" err="1"/>
              <a:t>Sql</a:t>
            </a:r>
            <a:r>
              <a:rPr lang="fr-FR" dirty="0"/>
              <a:t> server pour la gestion de la base de données</a:t>
            </a:r>
          </a:p>
          <a:p>
            <a:pPr marL="171450" indent="-171450">
              <a:buFontTx/>
              <a:buChar char="-"/>
            </a:pPr>
            <a:r>
              <a:rPr lang="fr-FR" dirty="0"/>
              <a:t>Et office 365 pour l’envoie des mails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B3D4A-A50F-4A48-A4AA-35298334BFA8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08791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Passons maintenant a la </a:t>
            </a:r>
            <a:r>
              <a:rPr lang="fr-FR" dirty="0" err="1"/>
              <a:t>demonstration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B3D4A-A50F-4A48-A4AA-35298334BFA8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6473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Pour conclure nous avons </a:t>
            </a:r>
            <a:r>
              <a:rPr lang="fr-FR" dirty="0" err="1"/>
              <a:t>concu</a:t>
            </a:r>
            <a:r>
              <a:rPr lang="fr-FR" dirty="0"/>
              <a:t> un outil pour gérer les projets de </a:t>
            </a:r>
            <a:r>
              <a:rPr lang="fr-FR" dirty="0" err="1"/>
              <a:t>ravinala</a:t>
            </a:r>
            <a:r>
              <a:rPr lang="fr-FR" dirty="0"/>
              <a:t> en donnant un visuel sur les budget et les ressources des dites projets</a:t>
            </a:r>
          </a:p>
          <a:p>
            <a:r>
              <a:rPr lang="fr-FR" dirty="0"/>
              <a:t>Cet outil </a:t>
            </a:r>
            <a:r>
              <a:rPr lang="fr-FR" dirty="0" err="1"/>
              <a:t>gére</a:t>
            </a:r>
            <a:r>
              <a:rPr lang="fr-FR" dirty="0"/>
              <a:t> en </a:t>
            </a:r>
            <a:r>
              <a:rPr lang="fr-FR" dirty="0" err="1"/>
              <a:t>parallele</a:t>
            </a:r>
            <a:r>
              <a:rPr lang="fr-FR" dirty="0"/>
              <a:t> les activité projet, transverse et </a:t>
            </a:r>
            <a:r>
              <a:rPr lang="fr-FR" dirty="0" err="1"/>
              <a:t>intercontract</a:t>
            </a:r>
            <a:r>
              <a:rPr lang="fr-FR" dirty="0"/>
              <a:t> du personnel de </a:t>
            </a:r>
            <a:r>
              <a:rPr lang="fr-FR" dirty="0" err="1"/>
              <a:t>ravinala</a:t>
            </a:r>
            <a:r>
              <a:rPr lang="fr-FR" dirty="0"/>
              <a:t>,</a:t>
            </a:r>
          </a:p>
          <a:p>
            <a:r>
              <a:rPr lang="fr-FR" dirty="0"/>
              <a:t>L’outil a été </a:t>
            </a:r>
            <a:r>
              <a:rPr lang="fr-FR" dirty="0" err="1"/>
              <a:t>developpé</a:t>
            </a:r>
            <a:r>
              <a:rPr lang="fr-FR" dirty="0"/>
              <a:t> avec des outils principalement compatible ou venant de </a:t>
            </a:r>
            <a:r>
              <a:rPr lang="fr-FR" dirty="0" err="1"/>
              <a:t>microsoft</a:t>
            </a:r>
            <a:r>
              <a:rPr lang="fr-FR" dirty="0"/>
              <a:t>,</a:t>
            </a:r>
          </a:p>
          <a:p>
            <a:endParaRPr lang="fr-FR" dirty="0"/>
          </a:p>
          <a:p>
            <a:r>
              <a:rPr lang="fr-FR" dirty="0"/>
              <a:t>L’application est déjà déployé et utilisé au sein de </a:t>
            </a:r>
            <a:r>
              <a:rPr lang="fr-FR" dirty="0" err="1"/>
              <a:t>ravinala</a:t>
            </a:r>
            <a:r>
              <a:rPr lang="fr-FR" dirty="0"/>
              <a:t> </a:t>
            </a:r>
            <a:r>
              <a:rPr lang="fr-FR" dirty="0" err="1"/>
              <a:t>airports</a:t>
            </a:r>
            <a:r>
              <a:rPr lang="fr-FR" dirty="0"/>
              <a:t> c’es la raison pour laquelle la plus part des données dans les captures dans l’ouvrage ont été délibérément flouté,</a:t>
            </a:r>
          </a:p>
          <a:p>
            <a:r>
              <a:rPr lang="fr-FR" dirty="0"/>
              <a:t>Néanmoins </a:t>
            </a:r>
            <a:r>
              <a:rPr lang="fr-FR" dirty="0" err="1"/>
              <a:t>meme</a:t>
            </a:r>
            <a:r>
              <a:rPr lang="fr-FR" dirty="0"/>
              <a:t> si l’application es déjà déployé et utilisé on prévoie de </a:t>
            </a:r>
            <a:r>
              <a:rPr lang="fr-FR" dirty="0" err="1"/>
              <a:t>syncroniser</a:t>
            </a:r>
            <a:r>
              <a:rPr lang="fr-FR" dirty="0"/>
              <a:t> l’application avec les outils utilisé précédemment par les départements de </a:t>
            </a:r>
            <a:r>
              <a:rPr lang="fr-FR" dirty="0" err="1"/>
              <a:t>ravinala</a:t>
            </a:r>
            <a:r>
              <a:rPr lang="fr-FR" dirty="0"/>
              <a:t>,</a:t>
            </a:r>
          </a:p>
          <a:p>
            <a:endParaRPr lang="fr-FR" dirty="0"/>
          </a:p>
          <a:p>
            <a:r>
              <a:rPr lang="fr-FR" dirty="0"/>
              <a:t>En ces mots, ma présentation s’</a:t>
            </a:r>
            <a:r>
              <a:rPr lang="fr-FR" dirty="0" err="1"/>
              <a:t>acheve</a:t>
            </a:r>
            <a:r>
              <a:rPr lang="fr-FR" dirty="0"/>
              <a:t> et de ce fait je suis disponible pour toutes remarques ou question de votre part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B3D4A-A50F-4A48-A4AA-35298334BFA8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03099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Merci de votre attention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B3D4A-A50F-4A48-A4AA-35298334BFA8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7881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BBF4BD-B8EB-45C1-88B5-5EA8758D2A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0265201-BBC8-45B3-B518-2BC7E7B0B6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08BF2DC-3397-4991-B1D9-9DFAD2B78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114EC-A85D-482A-A491-69B569FA6028}" type="datetimeFigureOut">
              <a:rPr lang="fr-FR" smtClean="0"/>
              <a:t>21/11/2024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EC45F9A-6EFE-4338-BACD-FB01D1651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23E2D05-E5E7-4040-A525-5912FCC6F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4C757-3504-4F1E-A8A5-E893C6C49A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6021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D31668-AC0A-480E-9270-B197F2463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C94213-999A-4A7B-ABEB-0DAD6B435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F37B96-D702-40A8-A164-FD85BF720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114EC-A85D-482A-A491-69B569FA6028}" type="datetimeFigureOut">
              <a:rPr lang="fr-FR" smtClean="0"/>
              <a:t>21/11/2024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2AD28A2-DDA6-4E32-8170-F80016FE6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2F5D2C3-2E80-49FC-9991-480CAFD6E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4C757-3504-4F1E-A8A5-E893C6C49A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6867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5DE8E4-41D0-4C5C-B675-F59138CF0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299DE65-0784-461E-B87C-AC24D78D4C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268BAF8-1541-458D-8260-79B257061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114EC-A85D-482A-A491-69B569FA6028}" type="datetimeFigureOut">
              <a:rPr lang="fr-FR" smtClean="0"/>
              <a:t>21/11/2024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412C246-05CB-42DF-810F-F99E2ACCE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AA8F576-E0EA-4A81-A4F0-376021A7C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4C757-3504-4F1E-A8A5-E893C6C49A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770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8E964B-B4B7-47CA-BF49-CDED670DF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9300AC0-66D6-487F-B159-DAF15C6382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A3ABEA4-8B82-41AD-AE8C-52350D198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30939C2-D1B7-4DE6-909B-1710848F1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114EC-A85D-482A-A491-69B569FA6028}" type="datetimeFigureOut">
              <a:rPr lang="fr-FR" smtClean="0"/>
              <a:t>21/11/2024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01579CF-509C-4B4E-8F9E-6B4D3F125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B764610-D9DB-4A40-A274-9ADF5D8DE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4C757-3504-4F1E-A8A5-E893C6C49A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2537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3C403F-0F57-4DB1-BDA5-901C7DFE7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DD8E1CF-83FE-48A7-B2FE-7E4E696CF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C8A7F71-5BF5-4437-91A6-DD6C463BF0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C270F80-6768-4B0C-9D4B-20ECF68D05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48E0559-AA14-4B87-B203-813F923DEA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F4168D2-6A0A-49FF-9A37-67A15C96B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114EC-A85D-482A-A491-69B569FA6028}" type="datetimeFigureOut">
              <a:rPr lang="fr-FR" smtClean="0"/>
              <a:t>21/11/2024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81CBC2B-F7AE-4CB1-BA66-46616C32F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A823289-1522-47B7-8083-5241F2065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4C757-3504-4F1E-A8A5-E893C6C49A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65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F516BB-4261-4AC9-B978-27D326A5D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50E10DE-86C2-44C4-ABB3-415632677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114EC-A85D-482A-A491-69B569FA6028}" type="datetimeFigureOut">
              <a:rPr lang="fr-FR" smtClean="0"/>
              <a:t>21/11/2024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9FB859D-FF5F-4DFC-91B1-8608CDEF7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1595DDF-116B-483B-A9EE-FCEAE53E6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4C757-3504-4F1E-A8A5-E893C6C49A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1367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E0FB3D7-C761-486A-9575-A8E2BA3B8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114EC-A85D-482A-A491-69B569FA6028}" type="datetimeFigureOut">
              <a:rPr lang="fr-FR" smtClean="0"/>
              <a:t>21/11/2024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0933666-7FFE-47CA-897B-2DD152EEB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E1F9A39-E4C2-49AF-90A8-CB379401D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4C757-3504-4F1E-A8A5-E893C6C49A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1190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F7DBA5-0781-4634-BB76-9786A82EE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0E7DEBE-2D92-4AE9-8DDA-C2B849773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CBF0AD5-3D49-4B93-A351-9FD46C0E92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81545CA-606A-4387-ADC0-30B759C93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114EC-A85D-482A-A491-69B569FA6028}" type="datetimeFigureOut">
              <a:rPr lang="fr-FR" smtClean="0"/>
              <a:t>21/11/2024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DEB98E4-BC2C-499B-8A34-0A5B200B1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F35081E-CFF3-45EB-9EC8-7EA3D1D3E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4C757-3504-4F1E-A8A5-E893C6C49A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8880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9CD967-203B-4FB8-AF8D-42470B11A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ABE363D-9E4A-420B-A850-4F63275135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C5EECFD-90AE-4A4D-8B99-B54A79423C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2DFCA84-1DCA-4718-BC0F-8ED66DA19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114EC-A85D-482A-A491-69B569FA6028}" type="datetimeFigureOut">
              <a:rPr lang="fr-FR" smtClean="0"/>
              <a:t>21/11/2024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68C70FA-0512-410C-A8E6-6B0ECDF0A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83CAC94-1975-4448-9F4B-B2207ACC7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4C757-3504-4F1E-A8A5-E893C6C49A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3633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FC1E42-9E57-40AE-A165-7F8253414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111AFE7-0362-4AE9-9A38-BF73E9F23D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CD13287-951D-479F-8865-653A02AC9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114EC-A85D-482A-A491-69B569FA6028}" type="datetimeFigureOut">
              <a:rPr lang="fr-FR" smtClean="0"/>
              <a:t>21/11/2024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585AD10-8AE3-4566-98C1-13BED62F6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BF4C45A-756B-4ECD-9C80-B6CCDC82A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4C757-3504-4F1E-A8A5-E893C6C49A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9180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EA92E25-3C56-48AD-88CC-8EB234347C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925A685-450D-45D9-AA2B-0A1366D545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D8DA018-2215-41DD-85E7-0183C4D0E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114EC-A85D-482A-A491-69B569FA6028}" type="datetimeFigureOut">
              <a:rPr lang="fr-FR" smtClean="0"/>
              <a:t>21/11/2024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96E7410-C4E3-4383-824C-1583E1AB2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A29ADD8-DC18-428E-8225-A92C5343F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4C757-3504-4F1E-A8A5-E893C6C49A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9303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EB6821D-4CCD-4DCF-B80B-FDBE7505C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902FE15-8763-4B28-8A0E-0C3A255139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6212EA7-27A5-4309-AC70-D1459AFDF2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114EC-A85D-482A-A491-69B569FA6028}" type="datetimeFigureOut">
              <a:rPr lang="fr-FR" smtClean="0"/>
              <a:t>21/11/2024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D79121-CD6B-4057-B6B9-E2E06D3705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90814B1-2D56-4399-9FA8-9D2CFB6169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F4C757-3504-4F1E-A8A5-E893C6C49A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8503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image" Target="../media/image3.jp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hyperlink" Target="mailto:eni@eni.mg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ebp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ebp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ebp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image" Target="../media/image7.png"/><Relationship Id="rId7" Type="http://schemas.microsoft.com/office/2007/relationships/hdphoto" Target="../media/hdphoto2.wdp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3.jpg"/><Relationship Id="rId5" Type="http://schemas.microsoft.com/office/2007/relationships/hdphoto" Target="../media/hdphoto1.wdp"/><Relationship Id="rId10" Type="http://schemas.openxmlformats.org/officeDocument/2006/relationships/image" Target="../media/image12.jpg"/><Relationship Id="rId4" Type="http://schemas.openxmlformats.org/officeDocument/2006/relationships/image" Target="../media/image8.png"/><Relationship Id="rId9" Type="http://schemas.openxmlformats.org/officeDocument/2006/relationships/image" Target="../media/image11.jp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jfi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jfif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fi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77438"/>
            <a:ext cx="12192000" cy="7257326"/>
            <a:chOff x="0" y="0"/>
            <a:chExt cx="4564586" cy="2459602"/>
          </a:xfrm>
          <a:solidFill>
            <a:schemeClr val="tx1"/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4564586" cy="2459602"/>
            </a:xfrm>
            <a:custGeom>
              <a:avLst/>
              <a:gdLst/>
              <a:ahLst/>
              <a:cxnLst/>
              <a:rect l="l" t="t" r="r" b="b"/>
              <a:pathLst>
                <a:path w="4564586" h="2459602">
                  <a:moveTo>
                    <a:pt x="0" y="0"/>
                  </a:moveTo>
                  <a:lnTo>
                    <a:pt x="4564586" y="0"/>
                  </a:lnTo>
                  <a:lnTo>
                    <a:pt x="4564586" y="2459602"/>
                  </a:lnTo>
                  <a:lnTo>
                    <a:pt x="0" y="2459602"/>
                  </a:lnTo>
                  <a:close/>
                </a:path>
              </a:pathLst>
            </a:custGeom>
            <a:grpFill/>
            <a:ln w="9525" cap="sq">
              <a:solidFill>
                <a:srgbClr val="FEFEFE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4564586" cy="2440552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970"/>
                </a:lnSpc>
              </a:pPr>
              <a:endParaRPr sz="1200"/>
            </a:p>
          </p:txBody>
        </p:sp>
      </p:grpSp>
      <p:sp>
        <p:nvSpPr>
          <p:cNvPr id="7" name="TextBox 5">
            <a:extLst>
              <a:ext uri="{FF2B5EF4-FFF2-40B4-BE49-F238E27FC236}">
                <a16:creationId xmlns:a16="http://schemas.microsoft.com/office/drawing/2014/main" id="{F834B6A0-1919-4775-8822-66F0815C6153}"/>
              </a:ext>
            </a:extLst>
          </p:cNvPr>
          <p:cNvSpPr txBox="1"/>
          <p:nvPr/>
        </p:nvSpPr>
        <p:spPr>
          <a:xfrm>
            <a:off x="266218" y="1022812"/>
            <a:ext cx="11296891" cy="15531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00"/>
              </a:lnSpc>
            </a:pPr>
            <a:r>
              <a:rPr lang="en-US" sz="4000" b="1" dirty="0" err="1">
                <a:solidFill>
                  <a:srgbClr val="FFD21B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Etteignez</a:t>
            </a:r>
            <a:r>
              <a:rPr lang="en-US" sz="4000" b="1" dirty="0">
                <a:solidFill>
                  <a:srgbClr val="FFD21B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 </a:t>
            </a:r>
            <a:r>
              <a:rPr lang="en-US" sz="4000" b="1" dirty="0" err="1">
                <a:solidFill>
                  <a:srgbClr val="FFD21B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ou</a:t>
            </a:r>
            <a:r>
              <a:rPr lang="en-US" sz="4000" b="1" dirty="0">
                <a:solidFill>
                  <a:srgbClr val="FFD21B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 </a:t>
            </a:r>
            <a:r>
              <a:rPr lang="en-US" sz="4000" b="1" dirty="0" err="1">
                <a:solidFill>
                  <a:srgbClr val="FFD21B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mettez</a:t>
            </a:r>
            <a:r>
              <a:rPr lang="en-US" sz="4000" b="1" dirty="0">
                <a:solidFill>
                  <a:srgbClr val="FFD21B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 votre telephone </a:t>
            </a:r>
            <a:r>
              <a:rPr lang="en-US" sz="4000" b="1" dirty="0" err="1">
                <a:solidFill>
                  <a:srgbClr val="FFD21B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en</a:t>
            </a:r>
            <a:r>
              <a:rPr lang="en-US" sz="4000" b="1" dirty="0">
                <a:solidFill>
                  <a:srgbClr val="FFD21B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 mode </a:t>
            </a:r>
            <a:r>
              <a:rPr lang="en-US" sz="4000" b="1" dirty="0" err="1">
                <a:solidFill>
                  <a:srgbClr val="FFD21B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silencieux</a:t>
            </a:r>
            <a:r>
              <a:rPr lang="en-US" sz="4000" b="1" dirty="0">
                <a:solidFill>
                  <a:srgbClr val="FFD21B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  !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0D776ADF-29CE-4CD9-9465-C905404A825C}"/>
              </a:ext>
            </a:extLst>
          </p:cNvPr>
          <p:cNvSpPr txBox="1"/>
          <p:nvPr/>
        </p:nvSpPr>
        <p:spPr>
          <a:xfrm>
            <a:off x="447554" y="3719970"/>
            <a:ext cx="11296891" cy="7323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00"/>
              </a:lnSpc>
            </a:pPr>
            <a:r>
              <a:rPr lang="en-US" sz="4000" b="1" dirty="0" err="1">
                <a:solidFill>
                  <a:srgbClr val="FFD21B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Vonoy</a:t>
            </a:r>
            <a:r>
              <a:rPr lang="en-US" sz="4000" b="1" dirty="0">
                <a:solidFill>
                  <a:srgbClr val="FFD21B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 </a:t>
            </a:r>
            <a:r>
              <a:rPr lang="en-US" sz="4000" b="1" dirty="0" err="1">
                <a:solidFill>
                  <a:srgbClr val="FFD21B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na</a:t>
            </a:r>
            <a:r>
              <a:rPr lang="en-US" sz="4000" b="1" dirty="0">
                <a:solidFill>
                  <a:srgbClr val="FFD21B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 </a:t>
            </a:r>
            <a:r>
              <a:rPr lang="en-US" sz="4000" b="1" dirty="0" err="1">
                <a:solidFill>
                  <a:srgbClr val="FFD21B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esory</a:t>
            </a:r>
            <a:r>
              <a:rPr lang="en-US" sz="4000" b="1" dirty="0">
                <a:solidFill>
                  <a:srgbClr val="FFD21B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 </a:t>
            </a:r>
            <a:r>
              <a:rPr lang="en-US" sz="4000" b="1" dirty="0" err="1">
                <a:solidFill>
                  <a:srgbClr val="FFD21B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ny</a:t>
            </a:r>
            <a:r>
              <a:rPr lang="en-US" sz="4000" b="1" dirty="0">
                <a:solidFill>
                  <a:srgbClr val="FFD21B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 </a:t>
            </a:r>
            <a:r>
              <a:rPr lang="en-US" sz="4000" b="1" dirty="0" err="1">
                <a:solidFill>
                  <a:srgbClr val="FFD21B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feon’ny</a:t>
            </a:r>
            <a:r>
              <a:rPr lang="en-US" sz="4000" b="1" dirty="0">
                <a:solidFill>
                  <a:srgbClr val="FFD21B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 </a:t>
            </a:r>
            <a:r>
              <a:rPr lang="en-US" sz="4000" b="1" dirty="0" err="1">
                <a:solidFill>
                  <a:srgbClr val="FFD21B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findainao</a:t>
            </a:r>
            <a:r>
              <a:rPr lang="en-US" sz="4000" b="1" dirty="0">
                <a:solidFill>
                  <a:srgbClr val="FFD21B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 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llipse 16">
            <a:extLst>
              <a:ext uri="{FF2B5EF4-FFF2-40B4-BE49-F238E27FC236}">
                <a16:creationId xmlns:a16="http://schemas.microsoft.com/office/drawing/2014/main" id="{E175B016-B8AF-4EA7-AD42-BB5DE49B9F6D}"/>
              </a:ext>
            </a:extLst>
          </p:cNvPr>
          <p:cNvSpPr/>
          <p:nvPr/>
        </p:nvSpPr>
        <p:spPr>
          <a:xfrm>
            <a:off x="10566075" y="1494863"/>
            <a:ext cx="3810325" cy="358015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7E91409F-FFBE-497B-BF7F-73B4ED00D03E}"/>
              </a:ext>
            </a:extLst>
          </p:cNvPr>
          <p:cNvSpPr/>
          <p:nvPr/>
        </p:nvSpPr>
        <p:spPr>
          <a:xfrm>
            <a:off x="4375630" y="-1593712"/>
            <a:ext cx="2021371" cy="2129581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/>
          </a:p>
        </p:txBody>
      </p:sp>
      <p:sp>
        <p:nvSpPr>
          <p:cNvPr id="3" name="TextBox 3"/>
          <p:cNvSpPr txBox="1"/>
          <p:nvPr/>
        </p:nvSpPr>
        <p:spPr>
          <a:xfrm>
            <a:off x="685800" y="3429000"/>
            <a:ext cx="10820400" cy="1444306"/>
          </a:xfrm>
          <a:prstGeom prst="rect">
            <a:avLst/>
          </a:prstGeom>
          <a:no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334" b="1" dirty="0">
                <a:solidFill>
                  <a:srgbClr val="FFD21B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Conception et </a:t>
            </a:r>
            <a:r>
              <a:rPr lang="en-US" sz="3334" b="1" dirty="0" err="1">
                <a:solidFill>
                  <a:srgbClr val="FFD21B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ré</a:t>
            </a:r>
            <a:r>
              <a:rPr lang="fr-FR" sz="3334" b="1" dirty="0">
                <a:solidFill>
                  <a:srgbClr val="FFD21B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alisation d’un outil de gestion et management de projet</a:t>
            </a:r>
            <a:endParaRPr lang="en-US" sz="3334" b="1" dirty="0">
              <a:solidFill>
                <a:srgbClr val="FFD21B"/>
              </a:solidFill>
              <a:latin typeface="Coco Gothic Bold"/>
              <a:ea typeface="Coco Gothic Bold"/>
              <a:cs typeface="Coco Gothic Bold"/>
              <a:sym typeface="Coco Gothic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158172" y="5908040"/>
            <a:ext cx="5875656" cy="24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40"/>
              </a:lnSpc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 RAZAFIMAHEFA Johanne Fanantenana Michaël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F37E3B57-D79E-4577-8C3C-17FE447374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776654" y="366823"/>
            <a:ext cx="1010406" cy="1010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5378EEB8-0AD3-40B5-AB12-A91A2C06D8D0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60302"/>
            <a:ext cx="910258" cy="101040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itre 1">
            <a:extLst>
              <a:ext uri="{FF2B5EF4-FFF2-40B4-BE49-F238E27FC236}">
                <a16:creationId xmlns:a16="http://schemas.microsoft.com/office/drawing/2014/main" id="{9D9DE641-318F-4132-A537-C3FEB552C5F0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1089024" y="2059856"/>
            <a:ext cx="10464800" cy="1113605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000" b="1" dirty="0">
                <a:solidFill>
                  <a:schemeClr val="accent2">
                    <a:lumMod val="75000"/>
                  </a:schemeClr>
                </a:solidFill>
                <a:latin typeface="Coco Gothic Bold" panose="020B0604020202020204" charset="0"/>
              </a:rPr>
              <a:t>MEMOIRE DE FIN D’ETUDES POUR L’OBTENTION DU DIPLOME DE MASTER PROFESSIONNEL</a:t>
            </a:r>
            <a:endParaRPr lang="fr-FR" sz="3000" dirty="0">
              <a:solidFill>
                <a:schemeClr val="accent2">
                  <a:lumMod val="75000"/>
                </a:schemeClr>
              </a:solidFill>
              <a:latin typeface="Coco Gothic Bold" panose="020B0604020202020204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127F55A-D69D-4C7A-8A47-5E3E23A684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2400" y="211609"/>
            <a:ext cx="1522701" cy="998215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249DB68C-8605-40DD-A4E7-1A7243AFCDF1}"/>
              </a:ext>
            </a:extLst>
          </p:cNvPr>
          <p:cNvSpPr/>
          <p:nvPr/>
        </p:nvSpPr>
        <p:spPr>
          <a:xfrm>
            <a:off x="-1536193" y="5410200"/>
            <a:ext cx="3759200" cy="28956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B837C7FE-BE2B-45C7-9AF7-4E9AAAEEF66B}"/>
              </a:ext>
            </a:extLst>
          </p:cNvPr>
          <p:cNvSpPr/>
          <p:nvPr/>
        </p:nvSpPr>
        <p:spPr>
          <a:xfrm>
            <a:off x="5386315" y="-1644474"/>
            <a:ext cx="3251200" cy="305296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B7661FD4-2ACC-44A1-99DA-E86CB8DA3A15}"/>
              </a:ext>
            </a:extLst>
          </p:cNvPr>
          <p:cNvSpPr/>
          <p:nvPr/>
        </p:nvSpPr>
        <p:spPr>
          <a:xfrm>
            <a:off x="-685800" y="-670560"/>
            <a:ext cx="1965960" cy="18440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61B12514-1902-4300-986F-7470414260C1}"/>
              </a:ext>
            </a:extLst>
          </p:cNvPr>
          <p:cNvSpPr/>
          <p:nvPr/>
        </p:nvSpPr>
        <p:spPr>
          <a:xfrm>
            <a:off x="4023360" y="5196840"/>
            <a:ext cx="3246120" cy="29108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E1956B63-C892-442D-ABAF-680FE7A93C15}"/>
              </a:ext>
            </a:extLst>
          </p:cNvPr>
          <p:cNvSpPr/>
          <p:nvPr/>
        </p:nvSpPr>
        <p:spPr>
          <a:xfrm>
            <a:off x="11506200" y="1463040"/>
            <a:ext cx="2377440" cy="234696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8D21908-741B-4D87-8656-0F416441C3BD}"/>
              </a:ext>
            </a:extLst>
          </p:cNvPr>
          <p:cNvSpPr txBox="1"/>
          <p:nvPr/>
        </p:nvSpPr>
        <p:spPr>
          <a:xfrm>
            <a:off x="1889760" y="2567226"/>
            <a:ext cx="841248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5000" b="1" dirty="0">
                <a:solidFill>
                  <a:schemeClr val="accent2">
                    <a:lumMod val="75000"/>
                  </a:schemeClr>
                </a:solidFill>
                <a:latin typeface="Coco Gothic Bold" panose="020B0604020202020204" charset="0"/>
              </a:rPr>
              <a:t>PLAN</a:t>
            </a:r>
          </a:p>
        </p:txBody>
      </p:sp>
    </p:spTree>
    <p:extLst>
      <p:ext uri="{BB962C8B-B14F-4D97-AF65-F5344CB8AC3E}">
        <p14:creationId xmlns:p14="http://schemas.microsoft.com/office/powerpoint/2010/main" val="2052395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B7661FD4-2ACC-44A1-99DA-E86CB8DA3A15}"/>
              </a:ext>
            </a:extLst>
          </p:cNvPr>
          <p:cNvSpPr/>
          <p:nvPr/>
        </p:nvSpPr>
        <p:spPr>
          <a:xfrm>
            <a:off x="-665480" y="-548640"/>
            <a:ext cx="1965960" cy="18440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61B12514-1902-4300-986F-7470414260C1}"/>
              </a:ext>
            </a:extLst>
          </p:cNvPr>
          <p:cNvSpPr/>
          <p:nvPr/>
        </p:nvSpPr>
        <p:spPr>
          <a:xfrm>
            <a:off x="2032000" y="5181948"/>
            <a:ext cx="3246120" cy="29108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E1956B63-C892-442D-ABAF-680FE7A93C15}"/>
              </a:ext>
            </a:extLst>
          </p:cNvPr>
          <p:cNvSpPr/>
          <p:nvPr/>
        </p:nvSpPr>
        <p:spPr>
          <a:xfrm>
            <a:off x="11485880" y="1645452"/>
            <a:ext cx="2377440" cy="234696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78F987D-4A1C-4344-9850-71A93BF48458}"/>
              </a:ext>
            </a:extLst>
          </p:cNvPr>
          <p:cNvSpPr txBox="1"/>
          <p:nvPr/>
        </p:nvSpPr>
        <p:spPr>
          <a:xfrm>
            <a:off x="2895600" y="1190004"/>
            <a:ext cx="437388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500" b="1" dirty="0">
                <a:solidFill>
                  <a:schemeClr val="accent2">
                    <a:lumMod val="75000"/>
                  </a:schemeClr>
                </a:solidFill>
                <a:latin typeface="Coco Gothic Bold" panose="020B0604020202020204" charset="0"/>
              </a:rPr>
              <a:t>PRESENTATION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57C49D2-5B9E-4598-90C5-F53DFB133FFF}"/>
              </a:ext>
            </a:extLst>
          </p:cNvPr>
          <p:cNvSpPr txBox="1"/>
          <p:nvPr/>
        </p:nvSpPr>
        <p:spPr>
          <a:xfrm>
            <a:off x="2895600" y="2187990"/>
            <a:ext cx="73914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500" b="1" dirty="0">
                <a:solidFill>
                  <a:schemeClr val="accent2">
                    <a:lumMod val="75000"/>
                  </a:schemeClr>
                </a:solidFill>
                <a:latin typeface="Coco Gothic Bold" panose="020B0604020202020204" charset="0"/>
              </a:rPr>
              <a:t>ANALYSE ET CONCEPTION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C0CBCE2-7C95-4F4C-8513-DA38E375DC6C}"/>
              </a:ext>
            </a:extLst>
          </p:cNvPr>
          <p:cNvSpPr txBox="1"/>
          <p:nvPr/>
        </p:nvSpPr>
        <p:spPr>
          <a:xfrm>
            <a:off x="2895600" y="3185976"/>
            <a:ext cx="399288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500" b="1" dirty="0">
                <a:solidFill>
                  <a:schemeClr val="accent2">
                    <a:lumMod val="75000"/>
                  </a:schemeClr>
                </a:solidFill>
                <a:latin typeface="Coco Gothic Bold" panose="020B0604020202020204" charset="0"/>
              </a:rPr>
              <a:t>REALISATION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074A68D-CBE3-483C-906C-3163BDF60C98}"/>
              </a:ext>
            </a:extLst>
          </p:cNvPr>
          <p:cNvSpPr txBox="1"/>
          <p:nvPr/>
        </p:nvSpPr>
        <p:spPr>
          <a:xfrm>
            <a:off x="2895600" y="4183962"/>
            <a:ext cx="722376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500" b="1" dirty="0">
                <a:solidFill>
                  <a:schemeClr val="accent2">
                    <a:lumMod val="75000"/>
                  </a:schemeClr>
                </a:solidFill>
                <a:latin typeface="Coco Gothic Bold" panose="020B0604020202020204" charset="0"/>
              </a:rPr>
              <a:t>DEMONSTRATION</a:t>
            </a:r>
          </a:p>
        </p:txBody>
      </p:sp>
    </p:spTree>
    <p:extLst>
      <p:ext uri="{BB962C8B-B14F-4D97-AF65-F5344CB8AC3E}">
        <p14:creationId xmlns:p14="http://schemas.microsoft.com/office/powerpoint/2010/main" val="5193484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B7661FD4-2ACC-44A1-99DA-E86CB8DA3A15}"/>
              </a:ext>
            </a:extLst>
          </p:cNvPr>
          <p:cNvSpPr/>
          <p:nvPr/>
        </p:nvSpPr>
        <p:spPr>
          <a:xfrm>
            <a:off x="-685800" y="-670560"/>
            <a:ext cx="1965960" cy="18440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61B12514-1902-4300-986F-7470414260C1}"/>
              </a:ext>
            </a:extLst>
          </p:cNvPr>
          <p:cNvSpPr/>
          <p:nvPr/>
        </p:nvSpPr>
        <p:spPr>
          <a:xfrm>
            <a:off x="4023360" y="5196840"/>
            <a:ext cx="3246120" cy="29108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E1956B63-C892-442D-ABAF-680FE7A93C15}"/>
              </a:ext>
            </a:extLst>
          </p:cNvPr>
          <p:cNvSpPr/>
          <p:nvPr/>
        </p:nvSpPr>
        <p:spPr>
          <a:xfrm>
            <a:off x="11506200" y="1463040"/>
            <a:ext cx="2377440" cy="234696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8D21908-741B-4D87-8656-0F416441C3BD}"/>
              </a:ext>
            </a:extLst>
          </p:cNvPr>
          <p:cNvSpPr txBox="1"/>
          <p:nvPr/>
        </p:nvSpPr>
        <p:spPr>
          <a:xfrm>
            <a:off x="1889760" y="2567226"/>
            <a:ext cx="841248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5000" b="1" dirty="0">
                <a:solidFill>
                  <a:schemeClr val="accent2">
                    <a:lumMod val="75000"/>
                  </a:schemeClr>
                </a:solidFill>
                <a:latin typeface="Coco Gothic Bold" panose="020B0604020202020204" charset="0"/>
              </a:rPr>
              <a:t>PRESENTATION</a:t>
            </a:r>
          </a:p>
        </p:txBody>
      </p:sp>
    </p:spTree>
    <p:extLst>
      <p:ext uri="{BB962C8B-B14F-4D97-AF65-F5344CB8AC3E}">
        <p14:creationId xmlns:p14="http://schemas.microsoft.com/office/powerpoint/2010/main" val="3166713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B7661FD4-2ACC-44A1-99DA-E86CB8DA3A15}"/>
              </a:ext>
            </a:extLst>
          </p:cNvPr>
          <p:cNvSpPr/>
          <p:nvPr/>
        </p:nvSpPr>
        <p:spPr>
          <a:xfrm>
            <a:off x="-685800" y="-670560"/>
            <a:ext cx="1965960" cy="18440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5A31CF7-8813-498B-A76A-786877237D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22120" y="-1"/>
            <a:ext cx="12192000" cy="6858000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61B12514-1902-4300-986F-7470414260C1}"/>
              </a:ext>
            </a:extLst>
          </p:cNvPr>
          <p:cNvSpPr/>
          <p:nvPr/>
        </p:nvSpPr>
        <p:spPr>
          <a:xfrm>
            <a:off x="4023360" y="5196840"/>
            <a:ext cx="3246120" cy="29108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E1956B63-C892-442D-ABAF-680FE7A93C15}"/>
              </a:ext>
            </a:extLst>
          </p:cNvPr>
          <p:cNvSpPr/>
          <p:nvPr/>
        </p:nvSpPr>
        <p:spPr>
          <a:xfrm>
            <a:off x="11506200" y="1463040"/>
            <a:ext cx="2377440" cy="234696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078285-5E1D-4B27-9E22-1D9D1F6B5221}"/>
              </a:ext>
            </a:extLst>
          </p:cNvPr>
          <p:cNvSpPr/>
          <p:nvPr/>
        </p:nvSpPr>
        <p:spPr>
          <a:xfrm>
            <a:off x="3779520" y="-373381"/>
            <a:ext cx="9220200" cy="7604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9DE539C1-3638-4EE6-A9E9-CBE883232716}"/>
              </a:ext>
            </a:extLst>
          </p:cNvPr>
          <p:cNvSpPr txBox="1"/>
          <p:nvPr/>
        </p:nvSpPr>
        <p:spPr>
          <a:xfrm>
            <a:off x="4785360" y="82987"/>
            <a:ext cx="6934200" cy="10447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800"/>
              </a:lnSpc>
            </a:pPr>
            <a:r>
              <a:rPr lang="en-US" sz="3500" b="1" dirty="0">
                <a:solidFill>
                  <a:srgbClr val="FFD21B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Ecole Nationale d’Informatique</a:t>
            </a: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A397F7B3-8657-42A9-80B9-B7110779F13D}"/>
              </a:ext>
            </a:extLst>
          </p:cNvPr>
          <p:cNvSpPr txBox="1"/>
          <p:nvPr/>
        </p:nvSpPr>
        <p:spPr>
          <a:xfrm>
            <a:off x="4373880" y="1976675"/>
            <a:ext cx="7696200" cy="25054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accent2">
                    <a:lumMod val="75000"/>
                  </a:schemeClr>
                </a:solidFill>
                <a:latin typeface="Coco Gothic Bold" panose="020B0604020202020204" charset="0"/>
                <a:ea typeface="Cambria" panose="02040503050406030204" pitchFamily="18" charset="0"/>
              </a:rPr>
              <a:t>24 mai 1983, </a:t>
            </a:r>
            <a:r>
              <a:rPr lang="fr-FR" sz="2800" dirty="0">
                <a:solidFill>
                  <a:schemeClr val="accent2">
                    <a:lumMod val="75000"/>
                  </a:schemeClr>
                </a:solidFill>
                <a:latin typeface="Coco Gothic Bold" panose="020B0604020202020204" charset="0"/>
              </a:rPr>
              <a:t>par le décret </a:t>
            </a:r>
            <a:r>
              <a:rPr lang="fr-FR" sz="2800" dirty="0">
                <a:solidFill>
                  <a:schemeClr val="accent2">
                    <a:lumMod val="75000"/>
                  </a:schemeClr>
                </a:solidFill>
                <a:latin typeface="Coco Gothic Bold" panose="020B0604020202020204" charset="0"/>
                <a:ea typeface="Cambria" panose="02040503050406030204" pitchFamily="18" charset="0"/>
              </a:rPr>
              <a:t>83-185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dirty="0" err="1">
                <a:solidFill>
                  <a:schemeClr val="accent2">
                    <a:lumMod val="75000"/>
                  </a:schemeClr>
                </a:solidFill>
                <a:latin typeface="Coco Gothic Bold" panose="020B0604020202020204" charset="0"/>
              </a:rPr>
              <a:t>Tanambao</a:t>
            </a:r>
            <a:r>
              <a:rPr lang="fr-FR" sz="2800" dirty="0">
                <a:solidFill>
                  <a:schemeClr val="accent2">
                    <a:lumMod val="75000"/>
                  </a:schemeClr>
                </a:solidFill>
                <a:latin typeface="Coco Gothic Bold" panose="020B0604020202020204" charset="0"/>
              </a:rPr>
              <a:t> </a:t>
            </a:r>
            <a:r>
              <a:rPr lang="fr-FR" sz="2800" dirty="0" err="1">
                <a:solidFill>
                  <a:schemeClr val="accent2">
                    <a:lumMod val="75000"/>
                  </a:schemeClr>
                </a:solidFill>
                <a:latin typeface="Coco Gothic Bold" panose="020B0604020202020204" charset="0"/>
              </a:rPr>
              <a:t>Antaninarenina</a:t>
            </a:r>
            <a:r>
              <a:rPr lang="fr-FR" sz="2800" dirty="0">
                <a:solidFill>
                  <a:schemeClr val="accent2">
                    <a:lumMod val="75000"/>
                  </a:schemeClr>
                </a:solidFill>
                <a:latin typeface="Coco Gothic Bold" panose="020B0604020202020204" charset="0"/>
              </a:rPr>
              <a:t> Fianarantsoa 301,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accent2">
                    <a:lumMod val="75000"/>
                  </a:schemeClr>
                </a:solidFill>
                <a:latin typeface="Coco Gothic Bold" panose="020B060402020202020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eni@eni.mg</a:t>
            </a:r>
            <a:endParaRPr lang="fr-FR" sz="2800" dirty="0">
              <a:solidFill>
                <a:schemeClr val="accent2">
                  <a:lumMod val="75000"/>
                </a:schemeClr>
              </a:solidFill>
              <a:latin typeface="Coco Gothic Bold" panose="020B060402020202020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accent2">
                    <a:lumMod val="75000"/>
                  </a:schemeClr>
                </a:solidFill>
                <a:latin typeface="Coco Gothic Bold" panose="020B0604020202020204" charset="0"/>
              </a:rPr>
              <a:t>034 05 733 36 ou  032 15 204 28</a:t>
            </a:r>
          </a:p>
        </p:txBody>
      </p:sp>
    </p:spTree>
    <p:extLst>
      <p:ext uri="{BB962C8B-B14F-4D97-AF65-F5344CB8AC3E}">
        <p14:creationId xmlns:p14="http://schemas.microsoft.com/office/powerpoint/2010/main" val="22408113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B7661FD4-2ACC-44A1-99DA-E86CB8DA3A15}"/>
              </a:ext>
            </a:extLst>
          </p:cNvPr>
          <p:cNvSpPr/>
          <p:nvPr/>
        </p:nvSpPr>
        <p:spPr>
          <a:xfrm>
            <a:off x="-685800" y="-670560"/>
            <a:ext cx="1965960" cy="18440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5A31CF7-8813-498B-A76A-786877237D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22120" y="-1"/>
            <a:ext cx="12192000" cy="6858000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61B12514-1902-4300-986F-7470414260C1}"/>
              </a:ext>
            </a:extLst>
          </p:cNvPr>
          <p:cNvSpPr/>
          <p:nvPr/>
        </p:nvSpPr>
        <p:spPr>
          <a:xfrm>
            <a:off x="4023360" y="5196840"/>
            <a:ext cx="3246120" cy="29108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E1956B63-C892-442D-ABAF-680FE7A93C15}"/>
              </a:ext>
            </a:extLst>
          </p:cNvPr>
          <p:cNvSpPr/>
          <p:nvPr/>
        </p:nvSpPr>
        <p:spPr>
          <a:xfrm>
            <a:off x="11506200" y="1463040"/>
            <a:ext cx="2377440" cy="234696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078285-5E1D-4B27-9E22-1D9D1F6B5221}"/>
              </a:ext>
            </a:extLst>
          </p:cNvPr>
          <p:cNvSpPr/>
          <p:nvPr/>
        </p:nvSpPr>
        <p:spPr>
          <a:xfrm>
            <a:off x="3779520" y="-373381"/>
            <a:ext cx="9220200" cy="7604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9DE539C1-3638-4EE6-A9E9-CBE883232716}"/>
              </a:ext>
            </a:extLst>
          </p:cNvPr>
          <p:cNvSpPr txBox="1"/>
          <p:nvPr/>
        </p:nvSpPr>
        <p:spPr>
          <a:xfrm>
            <a:off x="4785360" y="82987"/>
            <a:ext cx="6934200" cy="10447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800"/>
              </a:lnSpc>
            </a:pPr>
            <a:r>
              <a:rPr lang="en-US" sz="3500" b="1" dirty="0">
                <a:solidFill>
                  <a:srgbClr val="FFD21B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Ecole Nationale d’Informatique</a:t>
            </a: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A397F7B3-8657-42A9-80B9-B7110779F13D}"/>
              </a:ext>
            </a:extLst>
          </p:cNvPr>
          <p:cNvSpPr txBox="1"/>
          <p:nvPr/>
        </p:nvSpPr>
        <p:spPr>
          <a:xfrm>
            <a:off x="4373880" y="1976675"/>
            <a:ext cx="7345680" cy="31518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accent2">
                    <a:lumMod val="75000"/>
                  </a:schemeClr>
                </a:solidFill>
                <a:latin typeface="Coco Gothic Bold" panose="020B0604020202020204" charset="0"/>
                <a:ea typeface="Cambria" panose="02040503050406030204" pitchFamily="18" charset="0"/>
              </a:rPr>
              <a:t>Fournir des connaissance de base en informatique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accent2">
                    <a:lumMod val="75000"/>
                  </a:schemeClr>
                </a:solidFill>
                <a:latin typeface="Coco Gothic Bold" panose="020B0604020202020204" charset="0"/>
                <a:ea typeface="Cambria" panose="02040503050406030204" pitchFamily="18" charset="0"/>
              </a:rPr>
              <a:t>Transmettre le savoir faire requis à travers la professionnalisation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accent2">
                    <a:lumMod val="75000"/>
                  </a:schemeClr>
                </a:solidFill>
                <a:latin typeface="Coco Gothic Bold" panose="020B0604020202020204" charset="0"/>
                <a:ea typeface="Cambria" panose="02040503050406030204" pitchFamily="18" charset="0"/>
              </a:rPr>
              <a:t>Initier aux activités de recherche</a:t>
            </a:r>
          </a:p>
        </p:txBody>
      </p:sp>
    </p:spTree>
    <p:extLst>
      <p:ext uri="{BB962C8B-B14F-4D97-AF65-F5344CB8AC3E}">
        <p14:creationId xmlns:p14="http://schemas.microsoft.com/office/powerpoint/2010/main" val="37273433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B7661FD4-2ACC-44A1-99DA-E86CB8DA3A15}"/>
              </a:ext>
            </a:extLst>
          </p:cNvPr>
          <p:cNvSpPr/>
          <p:nvPr/>
        </p:nvSpPr>
        <p:spPr>
          <a:xfrm>
            <a:off x="-685800" y="-670560"/>
            <a:ext cx="1965960" cy="18440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5A31CF7-8813-498B-A76A-786877237D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22120" y="-1"/>
            <a:ext cx="12192000" cy="6858000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61B12514-1902-4300-986F-7470414260C1}"/>
              </a:ext>
            </a:extLst>
          </p:cNvPr>
          <p:cNvSpPr/>
          <p:nvPr/>
        </p:nvSpPr>
        <p:spPr>
          <a:xfrm>
            <a:off x="4023360" y="5196840"/>
            <a:ext cx="3246120" cy="29108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E1956B63-C892-442D-ABAF-680FE7A93C15}"/>
              </a:ext>
            </a:extLst>
          </p:cNvPr>
          <p:cNvSpPr/>
          <p:nvPr/>
        </p:nvSpPr>
        <p:spPr>
          <a:xfrm>
            <a:off x="11506200" y="1463040"/>
            <a:ext cx="2377440" cy="234696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078285-5E1D-4B27-9E22-1D9D1F6B5221}"/>
              </a:ext>
            </a:extLst>
          </p:cNvPr>
          <p:cNvSpPr/>
          <p:nvPr/>
        </p:nvSpPr>
        <p:spPr>
          <a:xfrm>
            <a:off x="3779520" y="-373381"/>
            <a:ext cx="9220200" cy="7604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9DE539C1-3638-4EE6-A9E9-CBE883232716}"/>
              </a:ext>
            </a:extLst>
          </p:cNvPr>
          <p:cNvSpPr txBox="1"/>
          <p:nvPr/>
        </p:nvSpPr>
        <p:spPr>
          <a:xfrm>
            <a:off x="4785360" y="82987"/>
            <a:ext cx="6934200" cy="10447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800"/>
              </a:lnSpc>
            </a:pPr>
            <a:r>
              <a:rPr lang="en-US" sz="3500" b="1" dirty="0">
                <a:solidFill>
                  <a:srgbClr val="FFD21B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Ecole Nationale d’Informatique</a:t>
            </a: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A397F7B3-8657-42A9-80B9-B7110779F13D}"/>
              </a:ext>
            </a:extLst>
          </p:cNvPr>
          <p:cNvSpPr txBox="1"/>
          <p:nvPr/>
        </p:nvSpPr>
        <p:spPr>
          <a:xfrm>
            <a:off x="4373880" y="1398684"/>
            <a:ext cx="7345680" cy="3164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accent2">
                    <a:lumMod val="75000"/>
                  </a:schemeClr>
                </a:solidFill>
                <a:latin typeface="Coco Gothic Bold" panose="020B0604020202020204" charset="0"/>
                <a:ea typeface="Cambria" panose="02040503050406030204" pitchFamily="18" charset="0"/>
              </a:rPr>
              <a:t>Génie Logiciel et Base de Données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accent2">
                    <a:lumMod val="75000"/>
                  </a:schemeClr>
                </a:solidFill>
                <a:latin typeface="Coco Gothic Bold" panose="020B0604020202020204" charset="0"/>
                <a:ea typeface="Cambria" panose="02040503050406030204" pitchFamily="18" charset="0"/>
              </a:rPr>
              <a:t>Administration des Systèmes et Réseaux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accent2">
                    <a:lumMod val="75000"/>
                  </a:schemeClr>
                </a:solidFill>
                <a:latin typeface="Coco Gothic Bold" panose="020B0604020202020204" charset="0"/>
                <a:ea typeface="Cambria" panose="02040503050406030204" pitchFamily="18" charset="0"/>
              </a:rPr>
              <a:t>Informatique Générale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accent2">
                    <a:lumMod val="75000"/>
                  </a:schemeClr>
                </a:solidFill>
                <a:latin typeface="Coco Gothic Bold" panose="020B0604020202020204" charset="0"/>
                <a:ea typeface="Cambria" panose="02040503050406030204" pitchFamily="18" charset="0"/>
              </a:rPr>
              <a:t>Gouvernance et Ingénierie de Données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accent2">
                    <a:lumMod val="75000"/>
                  </a:schemeClr>
                </a:solidFill>
                <a:latin typeface="Coco Gothic Bold" panose="020B0604020202020204" charset="0"/>
                <a:ea typeface="Cambria" panose="02040503050406030204" pitchFamily="18" charset="0"/>
              </a:rPr>
              <a:t>Objets Connectés et Cyber sécurités </a:t>
            </a:r>
          </a:p>
        </p:txBody>
      </p:sp>
    </p:spTree>
    <p:extLst>
      <p:ext uri="{BB962C8B-B14F-4D97-AF65-F5344CB8AC3E}">
        <p14:creationId xmlns:p14="http://schemas.microsoft.com/office/powerpoint/2010/main" val="10639800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B7661FD4-2ACC-44A1-99DA-E86CB8DA3A15}"/>
              </a:ext>
            </a:extLst>
          </p:cNvPr>
          <p:cNvSpPr/>
          <p:nvPr/>
        </p:nvSpPr>
        <p:spPr>
          <a:xfrm>
            <a:off x="-685800" y="-670560"/>
            <a:ext cx="1965960" cy="18440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C36821A-4BB8-4599-854B-3109073D78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7284" y="922"/>
            <a:ext cx="6807176" cy="6857078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61B12514-1902-4300-986F-7470414260C1}"/>
              </a:ext>
            </a:extLst>
          </p:cNvPr>
          <p:cNvSpPr/>
          <p:nvPr/>
        </p:nvSpPr>
        <p:spPr>
          <a:xfrm>
            <a:off x="4023360" y="5196840"/>
            <a:ext cx="3246120" cy="29108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E1956B63-C892-442D-ABAF-680FE7A93C15}"/>
              </a:ext>
            </a:extLst>
          </p:cNvPr>
          <p:cNvSpPr/>
          <p:nvPr/>
        </p:nvSpPr>
        <p:spPr>
          <a:xfrm>
            <a:off x="11506200" y="1463040"/>
            <a:ext cx="2377440" cy="234696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078285-5E1D-4B27-9E22-1D9D1F6B5221}"/>
              </a:ext>
            </a:extLst>
          </p:cNvPr>
          <p:cNvSpPr/>
          <p:nvPr/>
        </p:nvSpPr>
        <p:spPr>
          <a:xfrm>
            <a:off x="3779520" y="-373381"/>
            <a:ext cx="9220200" cy="7604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9DE539C1-3638-4EE6-A9E9-CBE883232716}"/>
              </a:ext>
            </a:extLst>
          </p:cNvPr>
          <p:cNvSpPr txBox="1"/>
          <p:nvPr/>
        </p:nvSpPr>
        <p:spPr>
          <a:xfrm>
            <a:off x="4785360" y="82987"/>
            <a:ext cx="6934200" cy="10447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800"/>
              </a:lnSpc>
            </a:pPr>
            <a:r>
              <a:rPr lang="en-US" sz="3500" b="1" dirty="0">
                <a:solidFill>
                  <a:srgbClr val="FFD21B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Ravinala airports</a:t>
            </a: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A397F7B3-8657-42A9-80B9-B7110779F13D}"/>
              </a:ext>
            </a:extLst>
          </p:cNvPr>
          <p:cNvSpPr txBox="1"/>
          <p:nvPr/>
        </p:nvSpPr>
        <p:spPr>
          <a:xfrm>
            <a:off x="4419588" y="1784002"/>
            <a:ext cx="7299972" cy="37981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accent2">
                    <a:lumMod val="75000"/>
                  </a:schemeClr>
                </a:solidFill>
                <a:latin typeface="Coco Gothic Bold" panose="020B0604020202020204" charset="0"/>
                <a:ea typeface="Cambria" panose="02040503050406030204" pitchFamily="18" charset="0"/>
              </a:rPr>
              <a:t>Gestionnaire des aéroports internationaux d’Antananarivo et de </a:t>
            </a:r>
            <a:r>
              <a:rPr lang="fr-FR" sz="2800" dirty="0" err="1">
                <a:solidFill>
                  <a:schemeClr val="accent2">
                    <a:lumMod val="75000"/>
                  </a:schemeClr>
                </a:solidFill>
                <a:latin typeface="Coco Gothic Bold" panose="020B0604020202020204" charset="0"/>
                <a:ea typeface="Cambria" panose="02040503050406030204" pitchFamily="18" charset="0"/>
              </a:rPr>
              <a:t>Nosy</a:t>
            </a:r>
            <a:r>
              <a:rPr lang="fr-FR" sz="2800" dirty="0">
                <a:solidFill>
                  <a:schemeClr val="accent2">
                    <a:lumMod val="75000"/>
                  </a:schemeClr>
                </a:solidFill>
                <a:latin typeface="Coco Gothic Bold" panose="020B0604020202020204" charset="0"/>
                <a:ea typeface="Cambria" panose="02040503050406030204" pitchFamily="18" charset="0"/>
              </a:rPr>
              <a:t> Be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accent2">
                    <a:lumMod val="75000"/>
                  </a:schemeClr>
                </a:solidFill>
                <a:latin typeface="Coco Gothic Bold" panose="020B0604020202020204" charset="0"/>
                <a:ea typeface="Cambria" panose="02040503050406030204" pitchFamily="18" charset="0"/>
              </a:rPr>
              <a:t>A compter de décembre 2016 pour une durée de 28 ans, Ravinala Airports a pour mission de gérer, rénover, et développer les aéroports d’Antananarivo et </a:t>
            </a:r>
            <a:r>
              <a:rPr lang="fr-FR" sz="2800" dirty="0" err="1">
                <a:solidFill>
                  <a:schemeClr val="accent2">
                    <a:lumMod val="75000"/>
                  </a:schemeClr>
                </a:solidFill>
                <a:latin typeface="Coco Gothic Bold" panose="020B0604020202020204" charset="0"/>
                <a:ea typeface="Cambria" panose="02040503050406030204" pitchFamily="18" charset="0"/>
              </a:rPr>
              <a:t>Nosy</a:t>
            </a:r>
            <a:r>
              <a:rPr lang="fr-FR" sz="2800" dirty="0">
                <a:solidFill>
                  <a:schemeClr val="accent2">
                    <a:lumMod val="75000"/>
                  </a:schemeClr>
                </a:solidFill>
                <a:latin typeface="Coco Gothic Bold" panose="020B0604020202020204" charset="0"/>
                <a:ea typeface="Cambria" panose="02040503050406030204" pitchFamily="18" charset="0"/>
              </a:rPr>
              <a:t> Be.</a:t>
            </a:r>
          </a:p>
        </p:txBody>
      </p:sp>
    </p:spTree>
    <p:extLst>
      <p:ext uri="{BB962C8B-B14F-4D97-AF65-F5344CB8AC3E}">
        <p14:creationId xmlns:p14="http://schemas.microsoft.com/office/powerpoint/2010/main" val="6775544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B7661FD4-2ACC-44A1-99DA-E86CB8DA3A15}"/>
              </a:ext>
            </a:extLst>
          </p:cNvPr>
          <p:cNvSpPr/>
          <p:nvPr/>
        </p:nvSpPr>
        <p:spPr>
          <a:xfrm>
            <a:off x="-685800" y="-670560"/>
            <a:ext cx="1965960" cy="18440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C36821A-4BB8-4599-854B-3109073D78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7284" y="922"/>
            <a:ext cx="6807176" cy="6857078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61B12514-1902-4300-986F-7470414260C1}"/>
              </a:ext>
            </a:extLst>
          </p:cNvPr>
          <p:cNvSpPr/>
          <p:nvPr/>
        </p:nvSpPr>
        <p:spPr>
          <a:xfrm>
            <a:off x="4023360" y="5196840"/>
            <a:ext cx="3246120" cy="29108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E1956B63-C892-442D-ABAF-680FE7A93C15}"/>
              </a:ext>
            </a:extLst>
          </p:cNvPr>
          <p:cNvSpPr/>
          <p:nvPr/>
        </p:nvSpPr>
        <p:spPr>
          <a:xfrm>
            <a:off x="11506200" y="1463040"/>
            <a:ext cx="2377440" cy="234696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078285-5E1D-4B27-9E22-1D9D1F6B5221}"/>
              </a:ext>
            </a:extLst>
          </p:cNvPr>
          <p:cNvSpPr/>
          <p:nvPr/>
        </p:nvSpPr>
        <p:spPr>
          <a:xfrm>
            <a:off x="3779520" y="-373381"/>
            <a:ext cx="9220200" cy="7604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9DE539C1-3638-4EE6-A9E9-CBE883232716}"/>
              </a:ext>
            </a:extLst>
          </p:cNvPr>
          <p:cNvSpPr txBox="1"/>
          <p:nvPr/>
        </p:nvSpPr>
        <p:spPr>
          <a:xfrm>
            <a:off x="4785360" y="82987"/>
            <a:ext cx="6934200" cy="10447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800"/>
              </a:lnSpc>
            </a:pPr>
            <a:r>
              <a:rPr lang="en-US" sz="3500" b="1" dirty="0">
                <a:solidFill>
                  <a:srgbClr val="FFD21B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Ravinala airports</a:t>
            </a: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A397F7B3-8657-42A9-80B9-B7110779F13D}"/>
              </a:ext>
            </a:extLst>
          </p:cNvPr>
          <p:cNvSpPr txBox="1"/>
          <p:nvPr/>
        </p:nvSpPr>
        <p:spPr>
          <a:xfrm>
            <a:off x="4404360" y="2176252"/>
            <a:ext cx="7696200" cy="25054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accent2">
                    <a:lumMod val="75000"/>
                  </a:schemeClr>
                </a:solidFill>
                <a:latin typeface="Coco Gothic Bold" panose="020B0604020202020204" charset="0"/>
                <a:ea typeface="Cambria" panose="02040503050406030204" pitchFamily="18" charset="0"/>
              </a:rPr>
              <a:t>Bienveillance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accent2">
                    <a:lumMod val="75000"/>
                  </a:schemeClr>
                </a:solidFill>
                <a:latin typeface="Coco Gothic Bold" panose="020B0604020202020204" charset="0"/>
                <a:ea typeface="Cambria" panose="02040503050406030204" pitchFamily="18" charset="0"/>
              </a:rPr>
              <a:t>Ambition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accent2">
                    <a:lumMod val="75000"/>
                  </a:schemeClr>
                </a:solidFill>
                <a:latin typeface="Coco Gothic Bold" panose="020B0604020202020204" charset="0"/>
                <a:ea typeface="Cambria" panose="02040503050406030204" pitchFamily="18" charset="0"/>
              </a:rPr>
              <a:t>Sens du service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accent2">
                    <a:lumMod val="75000"/>
                  </a:schemeClr>
                </a:solidFill>
                <a:latin typeface="Coco Gothic Bold" panose="020B0604020202020204" charset="0"/>
                <a:ea typeface="Cambria" panose="02040503050406030204" pitchFamily="18" charset="0"/>
              </a:rPr>
              <a:t>Engagement</a:t>
            </a:r>
          </a:p>
        </p:txBody>
      </p:sp>
    </p:spTree>
    <p:extLst>
      <p:ext uri="{BB962C8B-B14F-4D97-AF65-F5344CB8AC3E}">
        <p14:creationId xmlns:p14="http://schemas.microsoft.com/office/powerpoint/2010/main" val="8558468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B7661FD4-2ACC-44A1-99DA-E86CB8DA3A15}"/>
              </a:ext>
            </a:extLst>
          </p:cNvPr>
          <p:cNvSpPr/>
          <p:nvPr/>
        </p:nvSpPr>
        <p:spPr>
          <a:xfrm>
            <a:off x="-685800" y="-670560"/>
            <a:ext cx="1965960" cy="18440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C36821A-4BB8-4599-854B-3109073D78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7284" y="922"/>
            <a:ext cx="6807176" cy="6857078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61B12514-1902-4300-986F-7470414260C1}"/>
              </a:ext>
            </a:extLst>
          </p:cNvPr>
          <p:cNvSpPr/>
          <p:nvPr/>
        </p:nvSpPr>
        <p:spPr>
          <a:xfrm>
            <a:off x="4023360" y="5196840"/>
            <a:ext cx="3246120" cy="29108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E1956B63-C892-442D-ABAF-680FE7A93C15}"/>
              </a:ext>
            </a:extLst>
          </p:cNvPr>
          <p:cNvSpPr/>
          <p:nvPr/>
        </p:nvSpPr>
        <p:spPr>
          <a:xfrm>
            <a:off x="11506200" y="1463040"/>
            <a:ext cx="2377440" cy="234696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078285-5E1D-4B27-9E22-1D9D1F6B5221}"/>
              </a:ext>
            </a:extLst>
          </p:cNvPr>
          <p:cNvSpPr/>
          <p:nvPr/>
        </p:nvSpPr>
        <p:spPr>
          <a:xfrm>
            <a:off x="3779520" y="-373381"/>
            <a:ext cx="9220200" cy="7604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9DE539C1-3638-4EE6-A9E9-CBE883232716}"/>
              </a:ext>
            </a:extLst>
          </p:cNvPr>
          <p:cNvSpPr txBox="1"/>
          <p:nvPr/>
        </p:nvSpPr>
        <p:spPr>
          <a:xfrm>
            <a:off x="4785360" y="82987"/>
            <a:ext cx="6934200" cy="10447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800"/>
              </a:lnSpc>
            </a:pPr>
            <a:r>
              <a:rPr lang="en-US" sz="3500" b="1" dirty="0">
                <a:solidFill>
                  <a:srgbClr val="FFD21B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Ravinala airports</a:t>
            </a: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A397F7B3-8657-42A9-80B9-B7110779F13D}"/>
              </a:ext>
            </a:extLst>
          </p:cNvPr>
          <p:cNvSpPr txBox="1"/>
          <p:nvPr/>
        </p:nvSpPr>
        <p:spPr>
          <a:xfrm>
            <a:off x="4404360" y="1264591"/>
            <a:ext cx="7315200" cy="50908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accent2">
                    <a:lumMod val="75000"/>
                  </a:schemeClr>
                </a:solidFill>
                <a:latin typeface="Coco Gothic Bold" panose="020B0604020202020204" charset="0"/>
                <a:ea typeface="Cambria" panose="02040503050406030204" pitchFamily="18" charset="0"/>
              </a:rPr>
              <a:t>Le développement du trafic aérien et de nouvelles routes aériennes au départ des deux aéroports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accent2">
                    <a:lumMod val="75000"/>
                  </a:schemeClr>
                </a:solidFill>
                <a:latin typeface="Coco Gothic Bold" panose="020B0604020202020204" charset="0"/>
                <a:ea typeface="Cambria" panose="02040503050406030204" pitchFamily="18" charset="0"/>
              </a:rPr>
              <a:t>L’entretien, la maintenance et le renouvellement de tous les biens de la concession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accent2">
                    <a:lumMod val="75000"/>
                  </a:schemeClr>
                </a:solidFill>
                <a:latin typeface="Coco Gothic Bold" panose="020B0604020202020204" charset="0"/>
                <a:ea typeface="Cambria" panose="02040503050406030204" pitchFamily="18" charset="0"/>
              </a:rPr>
              <a:t>La fourniture de tous les services aéroportuaires</a:t>
            </a:r>
          </a:p>
        </p:txBody>
      </p:sp>
    </p:spTree>
    <p:extLst>
      <p:ext uri="{BB962C8B-B14F-4D97-AF65-F5344CB8AC3E}">
        <p14:creationId xmlns:p14="http://schemas.microsoft.com/office/powerpoint/2010/main" val="2054360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B7661FD4-2ACC-44A1-99DA-E86CB8DA3A15}"/>
              </a:ext>
            </a:extLst>
          </p:cNvPr>
          <p:cNvSpPr/>
          <p:nvPr/>
        </p:nvSpPr>
        <p:spPr>
          <a:xfrm>
            <a:off x="-685800" y="-670560"/>
            <a:ext cx="1965960" cy="18440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61B12514-1902-4300-986F-7470414260C1}"/>
              </a:ext>
            </a:extLst>
          </p:cNvPr>
          <p:cNvSpPr/>
          <p:nvPr/>
        </p:nvSpPr>
        <p:spPr>
          <a:xfrm>
            <a:off x="-893854" y="5081095"/>
            <a:ext cx="3246120" cy="29108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E1956B63-C892-442D-ABAF-680FE7A93C15}"/>
              </a:ext>
            </a:extLst>
          </p:cNvPr>
          <p:cNvSpPr/>
          <p:nvPr/>
        </p:nvSpPr>
        <p:spPr>
          <a:xfrm>
            <a:off x="11506200" y="1463040"/>
            <a:ext cx="2377440" cy="234696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8D21908-741B-4D87-8656-0F416441C3BD}"/>
              </a:ext>
            </a:extLst>
          </p:cNvPr>
          <p:cNvSpPr txBox="1"/>
          <p:nvPr/>
        </p:nvSpPr>
        <p:spPr>
          <a:xfrm>
            <a:off x="1645920" y="2567226"/>
            <a:ext cx="890016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5000" b="1" dirty="0">
                <a:solidFill>
                  <a:schemeClr val="accent2">
                    <a:lumMod val="75000"/>
                  </a:schemeClr>
                </a:solidFill>
                <a:latin typeface="Coco Gothic Bold" panose="020B0604020202020204" charset="0"/>
              </a:rPr>
              <a:t>DESCRIPTION DU PROJET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6192511F-C12A-44A1-856B-F6722E8ABD41}"/>
              </a:ext>
            </a:extLst>
          </p:cNvPr>
          <p:cNvSpPr/>
          <p:nvPr/>
        </p:nvSpPr>
        <p:spPr>
          <a:xfrm>
            <a:off x="626190" y="5902896"/>
            <a:ext cx="2572473" cy="29108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73438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B7661FD4-2ACC-44A1-99DA-E86CB8DA3A15}"/>
              </a:ext>
            </a:extLst>
          </p:cNvPr>
          <p:cNvSpPr/>
          <p:nvPr/>
        </p:nvSpPr>
        <p:spPr>
          <a:xfrm>
            <a:off x="-685800" y="-670560"/>
            <a:ext cx="1965960" cy="18440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61B12514-1902-4300-986F-7470414260C1}"/>
              </a:ext>
            </a:extLst>
          </p:cNvPr>
          <p:cNvSpPr/>
          <p:nvPr/>
        </p:nvSpPr>
        <p:spPr>
          <a:xfrm>
            <a:off x="4023360" y="5196840"/>
            <a:ext cx="3246120" cy="29108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E1956B63-C892-442D-ABAF-680FE7A93C15}"/>
              </a:ext>
            </a:extLst>
          </p:cNvPr>
          <p:cNvSpPr/>
          <p:nvPr/>
        </p:nvSpPr>
        <p:spPr>
          <a:xfrm>
            <a:off x="11506200" y="1463040"/>
            <a:ext cx="2377440" cy="234696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8D21908-741B-4D87-8656-0F416441C3BD}"/>
              </a:ext>
            </a:extLst>
          </p:cNvPr>
          <p:cNvSpPr txBox="1"/>
          <p:nvPr/>
        </p:nvSpPr>
        <p:spPr>
          <a:xfrm>
            <a:off x="1726943" y="2567226"/>
            <a:ext cx="890016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5000" b="1" dirty="0">
                <a:solidFill>
                  <a:schemeClr val="accent2">
                    <a:lumMod val="75000"/>
                  </a:schemeClr>
                </a:solidFill>
                <a:latin typeface="Coco Gothic Bold" panose="020B0604020202020204" charset="0"/>
              </a:rPr>
              <a:t>ANALYSE ET CONCEPTION</a:t>
            </a:r>
          </a:p>
        </p:txBody>
      </p:sp>
    </p:spTree>
    <p:extLst>
      <p:ext uri="{BB962C8B-B14F-4D97-AF65-F5344CB8AC3E}">
        <p14:creationId xmlns:p14="http://schemas.microsoft.com/office/powerpoint/2010/main" val="2195873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B7661FD4-2ACC-44A1-99DA-E86CB8DA3A15}"/>
              </a:ext>
            </a:extLst>
          </p:cNvPr>
          <p:cNvSpPr/>
          <p:nvPr/>
        </p:nvSpPr>
        <p:spPr>
          <a:xfrm>
            <a:off x="-685800" y="-670560"/>
            <a:ext cx="1965960" cy="18440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61B12514-1902-4300-986F-7470414260C1}"/>
              </a:ext>
            </a:extLst>
          </p:cNvPr>
          <p:cNvSpPr/>
          <p:nvPr/>
        </p:nvSpPr>
        <p:spPr>
          <a:xfrm>
            <a:off x="4023360" y="5196840"/>
            <a:ext cx="3246120" cy="29108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E1956B63-C892-442D-ABAF-680FE7A93C15}"/>
              </a:ext>
            </a:extLst>
          </p:cNvPr>
          <p:cNvSpPr/>
          <p:nvPr/>
        </p:nvSpPr>
        <p:spPr>
          <a:xfrm>
            <a:off x="11506200" y="1463040"/>
            <a:ext cx="2377440" cy="234696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8D21908-741B-4D87-8656-0F416441C3BD}"/>
              </a:ext>
            </a:extLst>
          </p:cNvPr>
          <p:cNvSpPr txBox="1"/>
          <p:nvPr/>
        </p:nvSpPr>
        <p:spPr>
          <a:xfrm>
            <a:off x="1645920" y="2567226"/>
            <a:ext cx="890016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5000" b="1" dirty="0">
                <a:solidFill>
                  <a:schemeClr val="accent2">
                    <a:lumMod val="75000"/>
                  </a:schemeClr>
                </a:solidFill>
                <a:latin typeface="Coco Gothic Bold" panose="020B0604020202020204" charset="0"/>
              </a:rPr>
              <a:t>ANALYSE DE L ’EXISTANT</a:t>
            </a:r>
          </a:p>
        </p:txBody>
      </p:sp>
    </p:spTree>
    <p:extLst>
      <p:ext uri="{BB962C8B-B14F-4D97-AF65-F5344CB8AC3E}">
        <p14:creationId xmlns:p14="http://schemas.microsoft.com/office/powerpoint/2010/main" val="38603029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B7661FD4-2ACC-44A1-99DA-E86CB8DA3A15}"/>
              </a:ext>
            </a:extLst>
          </p:cNvPr>
          <p:cNvSpPr/>
          <p:nvPr/>
        </p:nvSpPr>
        <p:spPr>
          <a:xfrm>
            <a:off x="-685800" y="-670560"/>
            <a:ext cx="1965960" cy="18440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61B12514-1902-4300-986F-7470414260C1}"/>
              </a:ext>
            </a:extLst>
          </p:cNvPr>
          <p:cNvSpPr/>
          <p:nvPr/>
        </p:nvSpPr>
        <p:spPr>
          <a:xfrm>
            <a:off x="4023360" y="5196840"/>
            <a:ext cx="3246120" cy="29108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E1956B63-C892-442D-ABAF-680FE7A93C15}"/>
              </a:ext>
            </a:extLst>
          </p:cNvPr>
          <p:cNvSpPr/>
          <p:nvPr/>
        </p:nvSpPr>
        <p:spPr>
          <a:xfrm>
            <a:off x="11506200" y="1463040"/>
            <a:ext cx="2377440" cy="234696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TextBox 34">
            <a:extLst>
              <a:ext uri="{FF2B5EF4-FFF2-40B4-BE49-F238E27FC236}">
                <a16:creationId xmlns:a16="http://schemas.microsoft.com/office/drawing/2014/main" id="{4E7C1C10-3078-441B-B261-92FED5D16872}"/>
              </a:ext>
            </a:extLst>
          </p:cNvPr>
          <p:cNvSpPr txBox="1"/>
          <p:nvPr/>
        </p:nvSpPr>
        <p:spPr>
          <a:xfrm>
            <a:off x="0" y="513812"/>
            <a:ext cx="12192000" cy="551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4500" b="1" dirty="0">
                <a:solidFill>
                  <a:schemeClr val="accent2">
                    <a:lumMod val="75000"/>
                  </a:schemeClr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SOLUTIONS</a:t>
            </a:r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2F37EE70-0634-428D-86DC-04390605E10C}"/>
              </a:ext>
            </a:extLst>
          </p:cNvPr>
          <p:cNvGrpSpPr/>
          <p:nvPr/>
        </p:nvGrpSpPr>
        <p:grpSpPr>
          <a:xfrm>
            <a:off x="648869" y="1482678"/>
            <a:ext cx="3238499" cy="3714162"/>
            <a:chOff x="780844" y="1263192"/>
            <a:chExt cx="3238499" cy="3714162"/>
          </a:xfrm>
        </p:grpSpPr>
        <p:sp>
          <p:nvSpPr>
            <p:cNvPr id="25" name="TextBox 20">
              <a:extLst>
                <a:ext uri="{FF2B5EF4-FFF2-40B4-BE49-F238E27FC236}">
                  <a16:creationId xmlns:a16="http://schemas.microsoft.com/office/drawing/2014/main" id="{93471075-E7BF-4F1B-82FB-653EC27EA6B3}"/>
                </a:ext>
              </a:extLst>
            </p:cNvPr>
            <p:cNvSpPr txBox="1"/>
            <p:nvPr/>
          </p:nvSpPr>
          <p:spPr>
            <a:xfrm>
              <a:off x="999240" y="1263192"/>
              <a:ext cx="2846895" cy="3714162"/>
            </a:xfrm>
            <a:prstGeom prst="rect">
              <a:avLst/>
            </a:prstGeom>
            <a:ln w="28575">
              <a:solidFill>
                <a:schemeClr val="accent2">
                  <a:lumMod val="75000"/>
                </a:schemeClr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55"/>
                </a:lnSpc>
              </a:pPr>
              <a:endParaRPr/>
            </a:p>
          </p:txBody>
        </p:sp>
        <p:sp>
          <p:nvSpPr>
            <p:cNvPr id="31" name="TextBox 36">
              <a:extLst>
                <a:ext uri="{FF2B5EF4-FFF2-40B4-BE49-F238E27FC236}">
                  <a16:creationId xmlns:a16="http://schemas.microsoft.com/office/drawing/2014/main" id="{94A4B22F-5113-4BD9-967B-21BFFD55FEBD}"/>
                </a:ext>
              </a:extLst>
            </p:cNvPr>
            <p:cNvSpPr txBox="1"/>
            <p:nvPr/>
          </p:nvSpPr>
          <p:spPr>
            <a:xfrm>
              <a:off x="999240" y="2686367"/>
              <a:ext cx="2846896" cy="130805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360"/>
                </a:lnSpc>
              </a:pPr>
              <a:r>
                <a:rPr lang="en-US" sz="3500" b="1" dirty="0" err="1">
                  <a:solidFill>
                    <a:srgbClr val="FFB800"/>
                  </a:solidFill>
                  <a:latin typeface="Coco Gothic Bold"/>
                  <a:ea typeface="Coco Gothic Bold"/>
                  <a:cs typeface="Coco Gothic Bold"/>
                  <a:sym typeface="Coco Gothic Bold"/>
                </a:rPr>
                <a:t>Utiliser</a:t>
              </a:r>
              <a:r>
                <a:rPr lang="en-US" sz="3500" b="1" dirty="0">
                  <a:solidFill>
                    <a:srgbClr val="FFB800"/>
                  </a:solidFill>
                  <a:latin typeface="Coco Gothic Bold"/>
                  <a:ea typeface="Coco Gothic Bold"/>
                  <a:cs typeface="Coco Gothic Bold"/>
                  <a:sym typeface="Coco Gothic Bold"/>
                </a:rPr>
                <a:t> Microsoft project pro</a:t>
              </a:r>
            </a:p>
          </p:txBody>
        </p:sp>
        <p:sp>
          <p:nvSpPr>
            <p:cNvPr id="34" name="TextBox 39">
              <a:extLst>
                <a:ext uri="{FF2B5EF4-FFF2-40B4-BE49-F238E27FC236}">
                  <a16:creationId xmlns:a16="http://schemas.microsoft.com/office/drawing/2014/main" id="{C73B5296-4F46-43C9-845E-72414813E03F}"/>
                </a:ext>
              </a:extLst>
            </p:cNvPr>
            <p:cNvSpPr txBox="1"/>
            <p:nvPr/>
          </p:nvSpPr>
          <p:spPr>
            <a:xfrm>
              <a:off x="780844" y="1788859"/>
              <a:ext cx="3238499" cy="2821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207"/>
                </a:lnSpc>
              </a:pPr>
              <a:r>
                <a:rPr lang="en-US" sz="2299" b="1" dirty="0">
                  <a:solidFill>
                    <a:srgbClr val="1A1B1D"/>
                  </a:solidFill>
                  <a:latin typeface="Coco Gothic Bold"/>
                  <a:ea typeface="Coco Gothic Bold"/>
                  <a:cs typeface="Coco Gothic Bold"/>
                  <a:sym typeface="Coco Gothic Bold"/>
                </a:rPr>
                <a:t>SOLUTION 1</a:t>
              </a:r>
            </a:p>
          </p:txBody>
        </p:sp>
      </p:grpSp>
      <p:grpSp>
        <p:nvGrpSpPr>
          <p:cNvPr id="42" name="Groupe 41">
            <a:extLst>
              <a:ext uri="{FF2B5EF4-FFF2-40B4-BE49-F238E27FC236}">
                <a16:creationId xmlns:a16="http://schemas.microsoft.com/office/drawing/2014/main" id="{79C874F6-BFE2-455B-9601-7E75C66F35B6}"/>
              </a:ext>
            </a:extLst>
          </p:cNvPr>
          <p:cNvGrpSpPr/>
          <p:nvPr/>
        </p:nvGrpSpPr>
        <p:grpSpPr>
          <a:xfrm>
            <a:off x="4456308" y="1488770"/>
            <a:ext cx="3238499" cy="3714162"/>
            <a:chOff x="780844" y="1263192"/>
            <a:chExt cx="3238499" cy="3714162"/>
          </a:xfrm>
        </p:grpSpPr>
        <p:sp>
          <p:nvSpPr>
            <p:cNvPr id="43" name="TextBox 20">
              <a:extLst>
                <a:ext uri="{FF2B5EF4-FFF2-40B4-BE49-F238E27FC236}">
                  <a16:creationId xmlns:a16="http://schemas.microsoft.com/office/drawing/2014/main" id="{B7860C46-3669-46E6-BAE5-C13671AECA6D}"/>
                </a:ext>
              </a:extLst>
            </p:cNvPr>
            <p:cNvSpPr txBox="1"/>
            <p:nvPr/>
          </p:nvSpPr>
          <p:spPr>
            <a:xfrm>
              <a:off x="999240" y="1263192"/>
              <a:ext cx="2846895" cy="3714162"/>
            </a:xfrm>
            <a:prstGeom prst="rect">
              <a:avLst/>
            </a:prstGeom>
            <a:ln w="28575">
              <a:solidFill>
                <a:schemeClr val="accent2">
                  <a:lumMod val="75000"/>
                </a:schemeClr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55"/>
                </a:lnSpc>
              </a:pPr>
              <a:endParaRPr/>
            </a:p>
          </p:txBody>
        </p:sp>
        <p:sp>
          <p:nvSpPr>
            <p:cNvPr id="44" name="TextBox 36">
              <a:extLst>
                <a:ext uri="{FF2B5EF4-FFF2-40B4-BE49-F238E27FC236}">
                  <a16:creationId xmlns:a16="http://schemas.microsoft.com/office/drawing/2014/main" id="{93FC259E-E6DB-44F1-8F3A-1E513BD470E0}"/>
                </a:ext>
              </a:extLst>
            </p:cNvPr>
            <p:cNvSpPr txBox="1"/>
            <p:nvPr/>
          </p:nvSpPr>
          <p:spPr>
            <a:xfrm>
              <a:off x="1019468" y="2686367"/>
              <a:ext cx="2826668" cy="218008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360"/>
                </a:lnSpc>
              </a:pPr>
              <a:r>
                <a:rPr lang="en-US" sz="3500" b="1" dirty="0" err="1">
                  <a:solidFill>
                    <a:srgbClr val="FFB800"/>
                  </a:solidFill>
                  <a:latin typeface="Coco Gothic Bold"/>
                  <a:ea typeface="Coco Gothic Bold"/>
                  <a:cs typeface="Coco Gothic Bold"/>
                  <a:sym typeface="Coco Gothic Bold"/>
                </a:rPr>
                <a:t>Utiliser</a:t>
              </a:r>
              <a:r>
                <a:rPr lang="en-US" sz="3500" b="1" dirty="0">
                  <a:solidFill>
                    <a:srgbClr val="FFB800"/>
                  </a:solidFill>
                  <a:latin typeface="Coco Gothic Bold"/>
                  <a:ea typeface="Coco Gothic Bold"/>
                  <a:cs typeface="Coco Gothic Bold"/>
                  <a:sym typeface="Coco Gothic Bold"/>
                </a:rPr>
                <a:t> la </a:t>
              </a:r>
              <a:r>
                <a:rPr lang="en-US" sz="3500" b="1" dirty="0" err="1">
                  <a:solidFill>
                    <a:srgbClr val="FFB800"/>
                  </a:solidFill>
                  <a:latin typeface="Coco Gothic Bold"/>
                  <a:ea typeface="Coco Gothic Bold"/>
                  <a:cs typeface="Coco Gothic Bold"/>
                  <a:sym typeface="Coco Gothic Bold"/>
                </a:rPr>
                <a:t>partie</a:t>
              </a:r>
              <a:r>
                <a:rPr lang="en-US" sz="3500" b="1" dirty="0">
                  <a:solidFill>
                    <a:srgbClr val="FFB800"/>
                  </a:solidFill>
                  <a:latin typeface="Coco Gothic Bold"/>
                  <a:ea typeface="Coco Gothic Bold"/>
                  <a:cs typeface="Coco Gothic Bold"/>
                  <a:sym typeface="Coco Gothic Bold"/>
                </a:rPr>
                <a:t> gestion de </a:t>
              </a:r>
              <a:r>
                <a:rPr lang="en-US" sz="3500" b="1" dirty="0" err="1">
                  <a:solidFill>
                    <a:srgbClr val="FFB800"/>
                  </a:solidFill>
                  <a:latin typeface="Coco Gothic Bold"/>
                  <a:ea typeface="Coco Gothic Bold"/>
                  <a:cs typeface="Coco Gothic Bold"/>
                  <a:sym typeface="Coco Gothic Bold"/>
                </a:rPr>
                <a:t>projet</a:t>
              </a:r>
              <a:r>
                <a:rPr lang="en-US" sz="3500" b="1" dirty="0">
                  <a:solidFill>
                    <a:srgbClr val="FFB800"/>
                  </a:solidFill>
                  <a:latin typeface="Coco Gothic Bold"/>
                  <a:ea typeface="Coco Gothic Bold"/>
                  <a:cs typeface="Coco Gothic Bold"/>
                  <a:sym typeface="Coco Gothic Bold"/>
                </a:rPr>
                <a:t> de GLPI</a:t>
              </a:r>
            </a:p>
          </p:txBody>
        </p:sp>
        <p:sp>
          <p:nvSpPr>
            <p:cNvPr id="45" name="TextBox 39">
              <a:extLst>
                <a:ext uri="{FF2B5EF4-FFF2-40B4-BE49-F238E27FC236}">
                  <a16:creationId xmlns:a16="http://schemas.microsoft.com/office/drawing/2014/main" id="{ACD28B5D-4034-4019-8B66-210EBFD08A51}"/>
                </a:ext>
              </a:extLst>
            </p:cNvPr>
            <p:cNvSpPr txBox="1"/>
            <p:nvPr/>
          </p:nvSpPr>
          <p:spPr>
            <a:xfrm>
              <a:off x="780844" y="1788859"/>
              <a:ext cx="3238499" cy="2821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207"/>
                </a:lnSpc>
              </a:pPr>
              <a:r>
                <a:rPr lang="en-US" sz="2299" b="1" dirty="0">
                  <a:solidFill>
                    <a:srgbClr val="1A1B1D"/>
                  </a:solidFill>
                  <a:latin typeface="Coco Gothic Bold"/>
                  <a:ea typeface="Coco Gothic Bold"/>
                  <a:cs typeface="Coco Gothic Bold"/>
                  <a:sym typeface="Coco Gothic Bold"/>
                </a:rPr>
                <a:t>SOLUTION 2</a:t>
              </a:r>
            </a:p>
          </p:txBody>
        </p:sp>
      </p:grpSp>
      <p:grpSp>
        <p:nvGrpSpPr>
          <p:cNvPr id="46" name="Groupe 45">
            <a:extLst>
              <a:ext uri="{FF2B5EF4-FFF2-40B4-BE49-F238E27FC236}">
                <a16:creationId xmlns:a16="http://schemas.microsoft.com/office/drawing/2014/main" id="{A47004C8-AC03-4A04-9F1B-9FB82156C119}"/>
              </a:ext>
            </a:extLst>
          </p:cNvPr>
          <p:cNvGrpSpPr/>
          <p:nvPr/>
        </p:nvGrpSpPr>
        <p:grpSpPr>
          <a:xfrm>
            <a:off x="8088174" y="1482678"/>
            <a:ext cx="3238499" cy="3714162"/>
            <a:chOff x="780844" y="1263192"/>
            <a:chExt cx="3238499" cy="3714162"/>
          </a:xfrm>
        </p:grpSpPr>
        <p:sp>
          <p:nvSpPr>
            <p:cNvPr id="47" name="TextBox 20">
              <a:extLst>
                <a:ext uri="{FF2B5EF4-FFF2-40B4-BE49-F238E27FC236}">
                  <a16:creationId xmlns:a16="http://schemas.microsoft.com/office/drawing/2014/main" id="{DBED7B9E-7F50-4082-B7E4-1474906CC746}"/>
                </a:ext>
              </a:extLst>
            </p:cNvPr>
            <p:cNvSpPr txBox="1"/>
            <p:nvPr/>
          </p:nvSpPr>
          <p:spPr>
            <a:xfrm>
              <a:off x="999240" y="1263192"/>
              <a:ext cx="2846895" cy="3714162"/>
            </a:xfrm>
            <a:prstGeom prst="rect">
              <a:avLst/>
            </a:prstGeom>
            <a:ln w="28575">
              <a:solidFill>
                <a:schemeClr val="accent2">
                  <a:lumMod val="75000"/>
                </a:schemeClr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55"/>
                </a:lnSpc>
              </a:pPr>
              <a:endParaRPr/>
            </a:p>
          </p:txBody>
        </p:sp>
        <p:sp>
          <p:nvSpPr>
            <p:cNvPr id="48" name="TextBox 36">
              <a:extLst>
                <a:ext uri="{FF2B5EF4-FFF2-40B4-BE49-F238E27FC236}">
                  <a16:creationId xmlns:a16="http://schemas.microsoft.com/office/drawing/2014/main" id="{407B00BF-7676-4656-9B43-BFB916FCC17A}"/>
                </a:ext>
              </a:extLst>
            </p:cNvPr>
            <p:cNvSpPr txBox="1"/>
            <p:nvPr/>
          </p:nvSpPr>
          <p:spPr>
            <a:xfrm>
              <a:off x="999240" y="2686367"/>
              <a:ext cx="2846895" cy="218008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360"/>
                </a:lnSpc>
              </a:pPr>
              <a:r>
                <a:rPr lang="fr-FR" sz="3500" b="1" dirty="0">
                  <a:solidFill>
                    <a:srgbClr val="FFB800"/>
                  </a:solidFill>
                  <a:latin typeface="Coco Gothic Bold"/>
                  <a:ea typeface="Coco Gothic Bold"/>
                  <a:cs typeface="Coco Gothic Bold"/>
                  <a:sym typeface="Coco Gothic Bold"/>
                </a:rPr>
                <a:t>Créer un outil de gestion et de management de projet</a:t>
              </a:r>
              <a:endParaRPr lang="en-US" sz="3500" b="1" dirty="0">
                <a:solidFill>
                  <a:srgbClr val="FFB800"/>
                </a:solidFill>
                <a:latin typeface="Coco Gothic Bold"/>
                <a:ea typeface="Coco Gothic Bold"/>
                <a:cs typeface="Coco Gothic Bold"/>
                <a:sym typeface="Coco Gothic Bold"/>
              </a:endParaRPr>
            </a:p>
          </p:txBody>
        </p:sp>
        <p:sp>
          <p:nvSpPr>
            <p:cNvPr id="49" name="TextBox 39">
              <a:extLst>
                <a:ext uri="{FF2B5EF4-FFF2-40B4-BE49-F238E27FC236}">
                  <a16:creationId xmlns:a16="http://schemas.microsoft.com/office/drawing/2014/main" id="{45FF01B4-2C48-41CD-8A41-8777C3D7A572}"/>
                </a:ext>
              </a:extLst>
            </p:cNvPr>
            <p:cNvSpPr txBox="1"/>
            <p:nvPr/>
          </p:nvSpPr>
          <p:spPr>
            <a:xfrm>
              <a:off x="780844" y="1788859"/>
              <a:ext cx="3238499" cy="2821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207"/>
                </a:lnSpc>
              </a:pPr>
              <a:r>
                <a:rPr lang="en-US" sz="2299" b="1" dirty="0">
                  <a:solidFill>
                    <a:srgbClr val="1A1B1D"/>
                  </a:solidFill>
                  <a:latin typeface="Coco Gothic Bold"/>
                  <a:ea typeface="Coco Gothic Bold"/>
                  <a:cs typeface="Coco Gothic Bold"/>
                  <a:sym typeface="Coco Gothic Bold"/>
                </a:rPr>
                <a:t>SOLUTION 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106361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B7661FD4-2ACC-44A1-99DA-E86CB8DA3A15}"/>
              </a:ext>
            </a:extLst>
          </p:cNvPr>
          <p:cNvSpPr/>
          <p:nvPr/>
        </p:nvSpPr>
        <p:spPr>
          <a:xfrm>
            <a:off x="-685800" y="-670560"/>
            <a:ext cx="1965960" cy="18440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61B12514-1902-4300-986F-7470414260C1}"/>
              </a:ext>
            </a:extLst>
          </p:cNvPr>
          <p:cNvSpPr/>
          <p:nvPr/>
        </p:nvSpPr>
        <p:spPr>
          <a:xfrm>
            <a:off x="4023360" y="5196840"/>
            <a:ext cx="3246120" cy="29108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E1956B63-C892-442D-ABAF-680FE7A93C15}"/>
              </a:ext>
            </a:extLst>
          </p:cNvPr>
          <p:cNvSpPr/>
          <p:nvPr/>
        </p:nvSpPr>
        <p:spPr>
          <a:xfrm>
            <a:off x="11506200" y="1463040"/>
            <a:ext cx="2377440" cy="234696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TextBox 34">
            <a:extLst>
              <a:ext uri="{FF2B5EF4-FFF2-40B4-BE49-F238E27FC236}">
                <a16:creationId xmlns:a16="http://schemas.microsoft.com/office/drawing/2014/main" id="{4E7C1C10-3078-441B-B261-92FED5D16872}"/>
              </a:ext>
            </a:extLst>
          </p:cNvPr>
          <p:cNvSpPr txBox="1"/>
          <p:nvPr/>
        </p:nvSpPr>
        <p:spPr>
          <a:xfrm>
            <a:off x="0" y="496530"/>
            <a:ext cx="12192000" cy="551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4500" b="1" dirty="0">
                <a:solidFill>
                  <a:schemeClr val="accent2">
                    <a:lumMod val="75000"/>
                  </a:schemeClr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SOLUTIONS</a:t>
            </a:r>
          </a:p>
        </p:txBody>
      </p:sp>
      <p:grpSp>
        <p:nvGrpSpPr>
          <p:cNvPr id="46" name="Groupe 45">
            <a:extLst>
              <a:ext uri="{FF2B5EF4-FFF2-40B4-BE49-F238E27FC236}">
                <a16:creationId xmlns:a16="http://schemas.microsoft.com/office/drawing/2014/main" id="{A47004C8-AC03-4A04-9F1B-9FB82156C119}"/>
              </a:ext>
            </a:extLst>
          </p:cNvPr>
          <p:cNvGrpSpPr/>
          <p:nvPr/>
        </p:nvGrpSpPr>
        <p:grpSpPr>
          <a:xfrm>
            <a:off x="4456307" y="1482678"/>
            <a:ext cx="3238499" cy="3714162"/>
            <a:chOff x="780844" y="1263192"/>
            <a:chExt cx="3238499" cy="3714162"/>
          </a:xfrm>
        </p:grpSpPr>
        <p:sp>
          <p:nvSpPr>
            <p:cNvPr id="47" name="TextBox 20">
              <a:extLst>
                <a:ext uri="{FF2B5EF4-FFF2-40B4-BE49-F238E27FC236}">
                  <a16:creationId xmlns:a16="http://schemas.microsoft.com/office/drawing/2014/main" id="{DBED7B9E-7F50-4082-B7E4-1474906CC746}"/>
                </a:ext>
              </a:extLst>
            </p:cNvPr>
            <p:cNvSpPr txBox="1"/>
            <p:nvPr/>
          </p:nvSpPr>
          <p:spPr>
            <a:xfrm>
              <a:off x="999240" y="1263192"/>
              <a:ext cx="2846895" cy="3714162"/>
            </a:xfrm>
            <a:prstGeom prst="rect">
              <a:avLst/>
            </a:prstGeom>
            <a:ln w="28575">
              <a:solidFill>
                <a:schemeClr val="accent2">
                  <a:lumMod val="75000"/>
                </a:schemeClr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55"/>
                </a:lnSpc>
              </a:pPr>
              <a:endParaRPr/>
            </a:p>
          </p:txBody>
        </p:sp>
        <p:sp>
          <p:nvSpPr>
            <p:cNvPr id="48" name="TextBox 36">
              <a:extLst>
                <a:ext uri="{FF2B5EF4-FFF2-40B4-BE49-F238E27FC236}">
                  <a16:creationId xmlns:a16="http://schemas.microsoft.com/office/drawing/2014/main" id="{407B00BF-7676-4656-9B43-BFB916FCC17A}"/>
                </a:ext>
              </a:extLst>
            </p:cNvPr>
            <p:cNvSpPr txBox="1"/>
            <p:nvPr/>
          </p:nvSpPr>
          <p:spPr>
            <a:xfrm>
              <a:off x="999240" y="2686367"/>
              <a:ext cx="2846895" cy="218008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360"/>
                </a:lnSpc>
              </a:pPr>
              <a:r>
                <a:rPr lang="fr-FR" sz="3500" b="1" dirty="0">
                  <a:solidFill>
                    <a:srgbClr val="FFB800"/>
                  </a:solidFill>
                  <a:latin typeface="Coco Gothic Bold"/>
                  <a:ea typeface="Coco Gothic Bold"/>
                  <a:cs typeface="Coco Gothic Bold"/>
                  <a:sym typeface="Coco Gothic Bold"/>
                </a:rPr>
                <a:t>Créer un outil de gestion et de management de projet</a:t>
              </a:r>
              <a:endParaRPr lang="en-US" sz="3500" b="1" dirty="0">
                <a:solidFill>
                  <a:srgbClr val="FFB800"/>
                </a:solidFill>
                <a:latin typeface="Coco Gothic Bold"/>
                <a:ea typeface="Coco Gothic Bold"/>
                <a:cs typeface="Coco Gothic Bold"/>
                <a:sym typeface="Coco Gothic Bold"/>
              </a:endParaRPr>
            </a:p>
          </p:txBody>
        </p:sp>
        <p:sp>
          <p:nvSpPr>
            <p:cNvPr id="49" name="TextBox 39">
              <a:extLst>
                <a:ext uri="{FF2B5EF4-FFF2-40B4-BE49-F238E27FC236}">
                  <a16:creationId xmlns:a16="http://schemas.microsoft.com/office/drawing/2014/main" id="{45FF01B4-2C48-41CD-8A41-8777C3D7A572}"/>
                </a:ext>
              </a:extLst>
            </p:cNvPr>
            <p:cNvSpPr txBox="1"/>
            <p:nvPr/>
          </p:nvSpPr>
          <p:spPr>
            <a:xfrm>
              <a:off x="780844" y="1788859"/>
              <a:ext cx="3238499" cy="2821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207"/>
                </a:lnSpc>
              </a:pPr>
              <a:r>
                <a:rPr lang="en-US" sz="2299" b="1" dirty="0">
                  <a:solidFill>
                    <a:srgbClr val="1A1B1D"/>
                  </a:solidFill>
                  <a:latin typeface="Coco Gothic Bold"/>
                  <a:ea typeface="Coco Gothic Bold"/>
                  <a:cs typeface="Coco Gothic Bold"/>
                  <a:sym typeface="Coco Gothic Bold"/>
                </a:rPr>
                <a:t>SOLUTION 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29814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4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B7661FD4-2ACC-44A1-99DA-E86CB8DA3A15}"/>
              </a:ext>
            </a:extLst>
          </p:cNvPr>
          <p:cNvSpPr/>
          <p:nvPr/>
        </p:nvSpPr>
        <p:spPr>
          <a:xfrm>
            <a:off x="-685800" y="-670560"/>
            <a:ext cx="1965960" cy="18440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61B12514-1902-4300-986F-7470414260C1}"/>
              </a:ext>
            </a:extLst>
          </p:cNvPr>
          <p:cNvSpPr/>
          <p:nvPr/>
        </p:nvSpPr>
        <p:spPr>
          <a:xfrm>
            <a:off x="4023360" y="5196840"/>
            <a:ext cx="3246120" cy="29108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E1956B63-C892-442D-ABAF-680FE7A93C15}"/>
              </a:ext>
            </a:extLst>
          </p:cNvPr>
          <p:cNvSpPr/>
          <p:nvPr/>
        </p:nvSpPr>
        <p:spPr>
          <a:xfrm>
            <a:off x="11506200" y="1463040"/>
            <a:ext cx="2377440" cy="234696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8D21908-741B-4D87-8656-0F416441C3BD}"/>
              </a:ext>
            </a:extLst>
          </p:cNvPr>
          <p:cNvSpPr txBox="1"/>
          <p:nvPr/>
        </p:nvSpPr>
        <p:spPr>
          <a:xfrm>
            <a:off x="1645920" y="2567226"/>
            <a:ext cx="890016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5000" b="1" dirty="0">
                <a:solidFill>
                  <a:schemeClr val="accent2">
                    <a:lumMod val="75000"/>
                  </a:schemeClr>
                </a:solidFill>
                <a:latin typeface="Coco Gothic Bold" panose="020B0604020202020204" charset="0"/>
              </a:rPr>
              <a:t>CONCEPTION</a:t>
            </a:r>
          </a:p>
        </p:txBody>
      </p:sp>
    </p:spTree>
    <p:extLst>
      <p:ext uri="{BB962C8B-B14F-4D97-AF65-F5344CB8AC3E}">
        <p14:creationId xmlns:p14="http://schemas.microsoft.com/office/powerpoint/2010/main" val="42144103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B7661FD4-2ACC-44A1-99DA-E86CB8DA3A15}"/>
              </a:ext>
            </a:extLst>
          </p:cNvPr>
          <p:cNvSpPr/>
          <p:nvPr/>
        </p:nvSpPr>
        <p:spPr>
          <a:xfrm>
            <a:off x="-685800" y="-670560"/>
            <a:ext cx="1965960" cy="18440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E1956B63-C892-442D-ABAF-680FE7A93C15}"/>
              </a:ext>
            </a:extLst>
          </p:cNvPr>
          <p:cNvSpPr/>
          <p:nvPr/>
        </p:nvSpPr>
        <p:spPr>
          <a:xfrm>
            <a:off x="11506200" y="1463040"/>
            <a:ext cx="2377440" cy="234696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BAA72EC-D835-42B2-BBAA-CE7740A1FE0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163" y="1286668"/>
            <a:ext cx="9608820" cy="5815172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61B12514-1902-4300-986F-7470414260C1}"/>
              </a:ext>
            </a:extLst>
          </p:cNvPr>
          <p:cNvSpPr/>
          <p:nvPr/>
        </p:nvSpPr>
        <p:spPr>
          <a:xfrm>
            <a:off x="4023360" y="5196840"/>
            <a:ext cx="3246120" cy="29108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34">
            <a:extLst>
              <a:ext uri="{FF2B5EF4-FFF2-40B4-BE49-F238E27FC236}">
                <a16:creationId xmlns:a16="http://schemas.microsoft.com/office/drawing/2014/main" id="{7073834A-7BF6-4DEE-92A7-46C5548D4D83}"/>
              </a:ext>
            </a:extLst>
          </p:cNvPr>
          <p:cNvSpPr txBox="1"/>
          <p:nvPr/>
        </p:nvSpPr>
        <p:spPr>
          <a:xfrm>
            <a:off x="0" y="496530"/>
            <a:ext cx="12192000" cy="551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4500" b="1" dirty="0">
                <a:solidFill>
                  <a:schemeClr val="accent2">
                    <a:lumMod val="75000"/>
                  </a:schemeClr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MODELE DE DOMAINE</a:t>
            </a:r>
          </a:p>
        </p:txBody>
      </p:sp>
    </p:spTree>
    <p:extLst>
      <p:ext uri="{BB962C8B-B14F-4D97-AF65-F5344CB8AC3E}">
        <p14:creationId xmlns:p14="http://schemas.microsoft.com/office/powerpoint/2010/main" val="3923910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B7661FD4-2ACC-44A1-99DA-E86CB8DA3A15}"/>
              </a:ext>
            </a:extLst>
          </p:cNvPr>
          <p:cNvSpPr/>
          <p:nvPr/>
        </p:nvSpPr>
        <p:spPr>
          <a:xfrm>
            <a:off x="-685800" y="-670560"/>
            <a:ext cx="1965960" cy="18440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E1956B63-C892-442D-ABAF-680FE7A93C15}"/>
              </a:ext>
            </a:extLst>
          </p:cNvPr>
          <p:cNvSpPr/>
          <p:nvPr/>
        </p:nvSpPr>
        <p:spPr>
          <a:xfrm>
            <a:off x="11506200" y="1463040"/>
            <a:ext cx="2377440" cy="234696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34">
            <a:extLst>
              <a:ext uri="{FF2B5EF4-FFF2-40B4-BE49-F238E27FC236}">
                <a16:creationId xmlns:a16="http://schemas.microsoft.com/office/drawing/2014/main" id="{7073834A-7BF6-4DEE-92A7-46C5548D4D83}"/>
              </a:ext>
            </a:extLst>
          </p:cNvPr>
          <p:cNvSpPr txBox="1"/>
          <p:nvPr/>
        </p:nvSpPr>
        <p:spPr>
          <a:xfrm>
            <a:off x="0" y="496530"/>
            <a:ext cx="12192000" cy="551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4500" b="1" dirty="0">
                <a:solidFill>
                  <a:schemeClr val="accent2">
                    <a:lumMod val="75000"/>
                  </a:schemeClr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ARCHITECTURE SERVEUR</a:t>
            </a: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B988CD0D-3FAA-41B0-8901-9B48A7CC7136}"/>
              </a:ext>
            </a:extLst>
          </p:cNvPr>
          <p:cNvGrpSpPr/>
          <p:nvPr/>
        </p:nvGrpSpPr>
        <p:grpSpPr>
          <a:xfrm>
            <a:off x="187780" y="2575013"/>
            <a:ext cx="1480100" cy="1015903"/>
            <a:chOff x="370659" y="3009287"/>
            <a:chExt cx="1642789" cy="1139886"/>
          </a:xfrm>
        </p:grpSpPr>
        <p:pic>
          <p:nvPicPr>
            <p:cNvPr id="9" name="Image 8" descr="Une image contenant ordinateur, ordinateur portable, Périphérique de sortie, Écran plat&#10;&#10;Description générée automatiquement">
              <a:extLst>
                <a:ext uri="{FF2B5EF4-FFF2-40B4-BE49-F238E27FC236}">
                  <a16:creationId xmlns:a16="http://schemas.microsoft.com/office/drawing/2014/main" id="{33D3E546-6302-4DCE-AC08-14D30329BA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0659" y="3009287"/>
              <a:ext cx="1642789" cy="839425"/>
            </a:xfrm>
            <a:prstGeom prst="rect">
              <a:avLst/>
            </a:prstGeom>
          </p:spPr>
        </p:pic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A400A18A-A295-4FEF-8607-BA63319FCE41}"/>
                </a:ext>
              </a:extLst>
            </p:cNvPr>
            <p:cNvSpPr txBox="1"/>
            <p:nvPr/>
          </p:nvSpPr>
          <p:spPr>
            <a:xfrm>
              <a:off x="370660" y="3769301"/>
              <a:ext cx="1642788" cy="3798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dirty="0">
                  <a:latin typeface="Century Gothic" panose="020B0502020202020204" pitchFamily="34" charset="0"/>
                </a:rPr>
                <a:t>utilisateurs</a:t>
              </a:r>
            </a:p>
          </p:txBody>
        </p:sp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8B9187AF-3334-4E43-8594-3404CE8D79BB}"/>
              </a:ext>
            </a:extLst>
          </p:cNvPr>
          <p:cNvGrpSpPr/>
          <p:nvPr/>
        </p:nvGrpSpPr>
        <p:grpSpPr>
          <a:xfrm>
            <a:off x="1841795" y="2375499"/>
            <a:ext cx="2423672" cy="432016"/>
            <a:chOff x="3690217" y="2293767"/>
            <a:chExt cx="1969368" cy="432016"/>
          </a:xfrm>
        </p:grpSpPr>
        <p:sp>
          <p:nvSpPr>
            <p:cNvPr id="12" name="Flèche : droite 11">
              <a:extLst>
                <a:ext uri="{FF2B5EF4-FFF2-40B4-BE49-F238E27FC236}">
                  <a16:creationId xmlns:a16="http://schemas.microsoft.com/office/drawing/2014/main" id="{66A08310-7913-437D-BFDB-12EFEC93940B}"/>
                </a:ext>
              </a:extLst>
            </p:cNvPr>
            <p:cNvSpPr/>
            <p:nvPr/>
          </p:nvSpPr>
          <p:spPr>
            <a:xfrm>
              <a:off x="3690217" y="2450528"/>
              <a:ext cx="1969368" cy="275255"/>
            </a:xfrm>
            <a:prstGeom prst="rightArrow">
              <a:avLst/>
            </a:prstGeom>
            <a:solidFill>
              <a:srgbClr val="1A437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4409DF4F-EA91-46E3-90ED-F9EECCD608AA}"/>
                </a:ext>
              </a:extLst>
            </p:cNvPr>
            <p:cNvSpPr txBox="1"/>
            <p:nvPr/>
          </p:nvSpPr>
          <p:spPr>
            <a:xfrm>
              <a:off x="3690217" y="2293767"/>
              <a:ext cx="19693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dirty="0">
                  <a:latin typeface="Century Gothic" panose="020B0502020202020204" pitchFamily="34" charset="0"/>
                </a:rPr>
                <a:t>Collecte de données</a:t>
              </a:r>
            </a:p>
          </p:txBody>
        </p: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61C629D2-4FAF-408C-ABB1-CF5F4E28E3E8}"/>
              </a:ext>
            </a:extLst>
          </p:cNvPr>
          <p:cNvGrpSpPr/>
          <p:nvPr/>
        </p:nvGrpSpPr>
        <p:grpSpPr>
          <a:xfrm>
            <a:off x="1841794" y="3050529"/>
            <a:ext cx="2423671" cy="460625"/>
            <a:chOff x="3690217" y="2949074"/>
            <a:chExt cx="1027612" cy="460625"/>
          </a:xfrm>
        </p:grpSpPr>
        <p:sp>
          <p:nvSpPr>
            <p:cNvPr id="15" name="Flèche : droite 14">
              <a:extLst>
                <a:ext uri="{FF2B5EF4-FFF2-40B4-BE49-F238E27FC236}">
                  <a16:creationId xmlns:a16="http://schemas.microsoft.com/office/drawing/2014/main" id="{7A08DC8E-A787-4A88-8676-E835708C0A71}"/>
                </a:ext>
              </a:extLst>
            </p:cNvPr>
            <p:cNvSpPr/>
            <p:nvPr/>
          </p:nvSpPr>
          <p:spPr>
            <a:xfrm rot="10800000">
              <a:off x="3690217" y="2949074"/>
              <a:ext cx="1027612" cy="275255"/>
            </a:xfrm>
            <a:prstGeom prst="rightArrow">
              <a:avLst/>
            </a:prstGeom>
            <a:solidFill>
              <a:srgbClr val="1A437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0FBA218F-E8DC-4653-8513-9A479B84130A}"/>
                </a:ext>
              </a:extLst>
            </p:cNvPr>
            <p:cNvSpPr txBox="1"/>
            <p:nvPr/>
          </p:nvSpPr>
          <p:spPr>
            <a:xfrm>
              <a:off x="3695261" y="3163478"/>
              <a:ext cx="10174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i="1" dirty="0">
                  <a:latin typeface="Century Gothic" panose="020B0502020202020204" pitchFamily="34" charset="0"/>
                </a:rPr>
                <a:t>Affichage des données</a:t>
              </a: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2CDA0DA6-AF10-4B6B-9EE5-755B84D0EE9E}"/>
              </a:ext>
            </a:extLst>
          </p:cNvPr>
          <p:cNvSpPr/>
          <p:nvPr/>
        </p:nvSpPr>
        <p:spPr>
          <a:xfrm>
            <a:off x="3932241" y="1118160"/>
            <a:ext cx="4001268" cy="482537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355517B0-413C-4388-8957-25EFA71DB978}"/>
              </a:ext>
            </a:extLst>
          </p:cNvPr>
          <p:cNvGrpSpPr/>
          <p:nvPr/>
        </p:nvGrpSpPr>
        <p:grpSpPr>
          <a:xfrm>
            <a:off x="4263954" y="2398376"/>
            <a:ext cx="1323247" cy="1192540"/>
            <a:chOff x="2247267" y="2575014"/>
            <a:chExt cx="1323247" cy="1192540"/>
          </a:xfrm>
        </p:grpSpPr>
        <p:pic>
          <p:nvPicPr>
            <p:cNvPr id="19" name="Image 18" descr="Une image contenant capture d’écran, Graphique, conception&#10;&#10;Description générée automatiquement">
              <a:extLst>
                <a:ext uri="{FF2B5EF4-FFF2-40B4-BE49-F238E27FC236}">
                  <a16:creationId xmlns:a16="http://schemas.microsoft.com/office/drawing/2014/main" id="{EEA1E41E-0B46-4166-ABD0-4A09050E6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441893" y="2575014"/>
              <a:ext cx="933994" cy="933994"/>
            </a:xfrm>
            <a:prstGeom prst="rect">
              <a:avLst/>
            </a:prstGeom>
          </p:spPr>
        </p:pic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61ED93DE-B506-43CB-AD15-38FD142DA567}"/>
                </a:ext>
              </a:extLst>
            </p:cNvPr>
            <p:cNvSpPr txBox="1"/>
            <p:nvPr/>
          </p:nvSpPr>
          <p:spPr>
            <a:xfrm>
              <a:off x="2247267" y="3429000"/>
              <a:ext cx="132324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dirty="0">
                  <a:latin typeface="Century Gothic" panose="020B0502020202020204" pitchFamily="34" charset="0"/>
                </a:rPr>
                <a:t>Front</a:t>
              </a:r>
            </a:p>
          </p:txBody>
        </p:sp>
      </p:grp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6016883F-BCE0-4063-A204-5D4CE84F0117}"/>
              </a:ext>
            </a:extLst>
          </p:cNvPr>
          <p:cNvGrpSpPr/>
          <p:nvPr/>
        </p:nvGrpSpPr>
        <p:grpSpPr>
          <a:xfrm>
            <a:off x="6384928" y="2319485"/>
            <a:ext cx="1476301" cy="1217058"/>
            <a:chOff x="4532811" y="1299766"/>
            <a:chExt cx="1071154" cy="759027"/>
          </a:xfrm>
        </p:grpSpPr>
        <p:pic>
          <p:nvPicPr>
            <p:cNvPr id="22" name="Image 21" descr="Une image contenant noir, obscurité&#10;&#10;Description générée automatiquement">
              <a:extLst>
                <a:ext uri="{FF2B5EF4-FFF2-40B4-BE49-F238E27FC236}">
                  <a16:creationId xmlns:a16="http://schemas.microsoft.com/office/drawing/2014/main" id="{D6D2B250-A145-4109-8D4F-1BC94A62658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colorTemperature colorTemp="112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43269" y="1299766"/>
              <a:ext cx="650238" cy="650238"/>
            </a:xfrm>
            <a:prstGeom prst="rect">
              <a:avLst/>
            </a:prstGeom>
            <a:ln>
              <a:noFill/>
            </a:ln>
          </p:spPr>
        </p:pic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AF6A8CB6-24E8-4986-AB68-B599701862CA}"/>
                </a:ext>
              </a:extLst>
            </p:cNvPr>
            <p:cNvSpPr txBox="1"/>
            <p:nvPr/>
          </p:nvSpPr>
          <p:spPr>
            <a:xfrm>
              <a:off x="4532811" y="1847651"/>
              <a:ext cx="1071154" cy="2111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dirty="0">
                  <a:latin typeface="Century Gothic" panose="020B0502020202020204" pitchFamily="34" charset="0"/>
                </a:rPr>
                <a:t>Back</a:t>
              </a:r>
            </a:p>
          </p:txBody>
        </p:sp>
      </p:grp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1373DCEC-F869-4CA8-B925-7A1205512B9B}"/>
              </a:ext>
            </a:extLst>
          </p:cNvPr>
          <p:cNvGrpSpPr/>
          <p:nvPr/>
        </p:nvGrpSpPr>
        <p:grpSpPr>
          <a:xfrm>
            <a:off x="6609185" y="4812098"/>
            <a:ext cx="1214846" cy="1159890"/>
            <a:chOff x="4389119" y="2580901"/>
            <a:chExt cx="1214846" cy="1159890"/>
          </a:xfrm>
        </p:grpSpPr>
        <p:sp>
          <p:nvSpPr>
            <p:cNvPr id="25" name="ZoneTexte 24">
              <a:extLst>
                <a:ext uri="{FF2B5EF4-FFF2-40B4-BE49-F238E27FC236}">
                  <a16:creationId xmlns:a16="http://schemas.microsoft.com/office/drawing/2014/main" id="{B9E72586-65A3-46E8-ACE4-8CFA872338EA}"/>
                </a:ext>
              </a:extLst>
            </p:cNvPr>
            <p:cNvSpPr txBox="1"/>
            <p:nvPr/>
          </p:nvSpPr>
          <p:spPr>
            <a:xfrm>
              <a:off x="4389119" y="3402237"/>
              <a:ext cx="12148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dirty="0">
                  <a:latin typeface="Century Gothic" panose="020B0502020202020204" pitchFamily="34" charset="0"/>
                </a:rPr>
                <a:t>BDD</a:t>
              </a:r>
            </a:p>
          </p:txBody>
        </p:sp>
        <p:pic>
          <p:nvPicPr>
            <p:cNvPr id="26" name="Image 25" descr="Une image contenant cercle, Bleu électrique, logo, symbole&#10;&#10;Description générée automatiquement">
              <a:extLst>
                <a:ext uri="{FF2B5EF4-FFF2-40B4-BE49-F238E27FC236}">
                  <a16:creationId xmlns:a16="http://schemas.microsoft.com/office/drawing/2014/main" id="{0471DD85-5373-4A63-A658-A65AABE1071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2380" y="2580901"/>
              <a:ext cx="741127" cy="736346"/>
            </a:xfrm>
            <a:prstGeom prst="rect">
              <a:avLst/>
            </a:prstGeom>
          </p:spPr>
        </p:pic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45F7A819-363C-4457-B526-168C02D7401E}"/>
              </a:ext>
            </a:extLst>
          </p:cNvPr>
          <p:cNvGrpSpPr/>
          <p:nvPr/>
        </p:nvGrpSpPr>
        <p:grpSpPr>
          <a:xfrm>
            <a:off x="9773189" y="4209474"/>
            <a:ext cx="2408661" cy="2357845"/>
            <a:chOff x="7356838" y="1071155"/>
            <a:chExt cx="2408661" cy="2357845"/>
          </a:xfrm>
        </p:grpSpPr>
        <p:grpSp>
          <p:nvGrpSpPr>
            <p:cNvPr id="28" name="Groupe 27">
              <a:extLst>
                <a:ext uri="{FF2B5EF4-FFF2-40B4-BE49-F238E27FC236}">
                  <a16:creationId xmlns:a16="http://schemas.microsoft.com/office/drawing/2014/main" id="{9F1B418F-0396-4999-8274-31189E2885F4}"/>
                </a:ext>
              </a:extLst>
            </p:cNvPr>
            <p:cNvGrpSpPr/>
            <p:nvPr/>
          </p:nvGrpSpPr>
          <p:grpSpPr>
            <a:xfrm>
              <a:off x="7356838" y="1071155"/>
              <a:ext cx="2408661" cy="2357845"/>
              <a:chOff x="7356838" y="1071155"/>
              <a:chExt cx="2408661" cy="2357845"/>
            </a:xfrm>
          </p:grpSpPr>
          <p:pic>
            <p:nvPicPr>
              <p:cNvPr id="30" name="Image 29" descr="Une image contenant clipart, logo, Graphique, conception&#10;&#10;Description générée automatiquement">
                <a:extLst>
                  <a:ext uri="{FF2B5EF4-FFF2-40B4-BE49-F238E27FC236}">
                    <a16:creationId xmlns:a16="http://schemas.microsoft.com/office/drawing/2014/main" id="{DEA89D5F-3117-4C99-B112-387EB5A505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356838" y="1071155"/>
                <a:ext cx="2408661" cy="2357845"/>
              </a:xfrm>
              <a:prstGeom prst="rect">
                <a:avLst/>
              </a:prstGeom>
            </p:spPr>
          </p:pic>
          <p:pic>
            <p:nvPicPr>
              <p:cNvPr id="31" name="Image 30" descr="Une image contenant Bleu électrique, conception&#10;&#10;Description générée automatiquement">
                <a:extLst>
                  <a:ext uri="{FF2B5EF4-FFF2-40B4-BE49-F238E27FC236}">
                    <a16:creationId xmlns:a16="http://schemas.microsoft.com/office/drawing/2014/main" id="{141CF1C5-73A5-4090-B925-E5D783FC43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49960" y="1936998"/>
                <a:ext cx="411208" cy="365229"/>
              </a:xfrm>
              <a:prstGeom prst="rect">
                <a:avLst/>
              </a:prstGeom>
            </p:spPr>
          </p:pic>
        </p:grpSp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63B32F18-1543-4300-B742-BD2CED6F87A6}"/>
                </a:ext>
              </a:extLst>
            </p:cNvPr>
            <p:cNvSpPr txBox="1"/>
            <p:nvPr/>
          </p:nvSpPr>
          <p:spPr>
            <a:xfrm>
              <a:off x="7805599" y="2830524"/>
              <a:ext cx="183896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dirty="0">
                  <a:latin typeface="Century Gothic" panose="020B0502020202020204" pitchFamily="34" charset="0"/>
                </a:rPr>
                <a:t>Active Directory</a:t>
              </a:r>
            </a:p>
          </p:txBody>
        </p:sp>
      </p:grpSp>
      <p:pic>
        <p:nvPicPr>
          <p:cNvPr id="32" name="Image 31" descr="Une image contenant Police, logo, symbole, Graphique&#10;&#10;Description générée automatiquement">
            <a:extLst>
              <a:ext uri="{FF2B5EF4-FFF2-40B4-BE49-F238E27FC236}">
                <a16:creationId xmlns:a16="http://schemas.microsoft.com/office/drawing/2014/main" id="{9E3677C2-4F76-4501-A168-6979C578F94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1155" y="911317"/>
            <a:ext cx="1508995" cy="957943"/>
          </a:xfrm>
          <a:prstGeom prst="rect">
            <a:avLst/>
          </a:prstGeom>
        </p:spPr>
      </p:pic>
      <p:grpSp>
        <p:nvGrpSpPr>
          <p:cNvPr id="33" name="Groupe 32">
            <a:extLst>
              <a:ext uri="{FF2B5EF4-FFF2-40B4-BE49-F238E27FC236}">
                <a16:creationId xmlns:a16="http://schemas.microsoft.com/office/drawing/2014/main" id="{FE5AF7D3-983A-44A5-A3C7-771AB8995849}"/>
              </a:ext>
            </a:extLst>
          </p:cNvPr>
          <p:cNvGrpSpPr/>
          <p:nvPr/>
        </p:nvGrpSpPr>
        <p:grpSpPr>
          <a:xfrm>
            <a:off x="5461566" y="2356419"/>
            <a:ext cx="1027612" cy="432016"/>
            <a:chOff x="3690217" y="2293767"/>
            <a:chExt cx="1027612" cy="432016"/>
          </a:xfrm>
        </p:grpSpPr>
        <p:sp>
          <p:nvSpPr>
            <p:cNvPr id="34" name="Flèche : droite 33">
              <a:extLst>
                <a:ext uri="{FF2B5EF4-FFF2-40B4-BE49-F238E27FC236}">
                  <a16:creationId xmlns:a16="http://schemas.microsoft.com/office/drawing/2014/main" id="{53DB6A8B-E7F6-4EE0-A7F6-FB43DADC3A12}"/>
                </a:ext>
              </a:extLst>
            </p:cNvPr>
            <p:cNvSpPr/>
            <p:nvPr/>
          </p:nvSpPr>
          <p:spPr>
            <a:xfrm>
              <a:off x="3690217" y="2450528"/>
              <a:ext cx="1027612" cy="275255"/>
            </a:xfrm>
            <a:prstGeom prst="rightArrow">
              <a:avLst/>
            </a:prstGeom>
            <a:solidFill>
              <a:srgbClr val="1A437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5" name="ZoneTexte 34">
              <a:extLst>
                <a:ext uri="{FF2B5EF4-FFF2-40B4-BE49-F238E27FC236}">
                  <a16:creationId xmlns:a16="http://schemas.microsoft.com/office/drawing/2014/main" id="{45DF171C-18D9-424F-9187-EE809580B827}"/>
                </a:ext>
              </a:extLst>
            </p:cNvPr>
            <p:cNvSpPr txBox="1"/>
            <p:nvPr/>
          </p:nvSpPr>
          <p:spPr>
            <a:xfrm>
              <a:off x="3770802" y="2293767"/>
              <a:ext cx="77296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dirty="0">
                  <a:latin typeface="Century Gothic" panose="020B0502020202020204" pitchFamily="34" charset="0"/>
                </a:rPr>
                <a:t>Requêtes</a:t>
              </a:r>
            </a:p>
          </p:txBody>
        </p:sp>
      </p:grpSp>
      <p:grpSp>
        <p:nvGrpSpPr>
          <p:cNvPr id="36" name="Groupe 35">
            <a:extLst>
              <a:ext uri="{FF2B5EF4-FFF2-40B4-BE49-F238E27FC236}">
                <a16:creationId xmlns:a16="http://schemas.microsoft.com/office/drawing/2014/main" id="{88C9E7B5-ADED-4F84-96BB-B4A81FF02867}"/>
              </a:ext>
            </a:extLst>
          </p:cNvPr>
          <p:cNvGrpSpPr/>
          <p:nvPr/>
        </p:nvGrpSpPr>
        <p:grpSpPr>
          <a:xfrm>
            <a:off x="5461566" y="3011726"/>
            <a:ext cx="1027612" cy="460625"/>
            <a:chOff x="3690217" y="2949074"/>
            <a:chExt cx="1027612" cy="460625"/>
          </a:xfrm>
        </p:grpSpPr>
        <p:sp>
          <p:nvSpPr>
            <p:cNvPr id="37" name="Flèche : droite 36">
              <a:extLst>
                <a:ext uri="{FF2B5EF4-FFF2-40B4-BE49-F238E27FC236}">
                  <a16:creationId xmlns:a16="http://schemas.microsoft.com/office/drawing/2014/main" id="{B557D4A9-4118-45D0-B0BF-19A3125E565E}"/>
                </a:ext>
              </a:extLst>
            </p:cNvPr>
            <p:cNvSpPr/>
            <p:nvPr/>
          </p:nvSpPr>
          <p:spPr>
            <a:xfrm rot="10800000">
              <a:off x="3690217" y="2949074"/>
              <a:ext cx="1027612" cy="275255"/>
            </a:xfrm>
            <a:prstGeom prst="rightArrow">
              <a:avLst/>
            </a:prstGeom>
            <a:solidFill>
              <a:srgbClr val="1A437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8" name="ZoneTexte 37">
              <a:extLst>
                <a:ext uri="{FF2B5EF4-FFF2-40B4-BE49-F238E27FC236}">
                  <a16:creationId xmlns:a16="http://schemas.microsoft.com/office/drawing/2014/main" id="{6A66E545-182E-49CE-A8A7-B9140D61BD4B}"/>
                </a:ext>
              </a:extLst>
            </p:cNvPr>
            <p:cNvSpPr txBox="1"/>
            <p:nvPr/>
          </p:nvSpPr>
          <p:spPr>
            <a:xfrm>
              <a:off x="3829931" y="3163478"/>
              <a:ext cx="77938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i="1" dirty="0">
                  <a:latin typeface="Century Gothic" panose="020B0502020202020204" pitchFamily="34" charset="0"/>
                </a:rPr>
                <a:t>Réponses</a:t>
              </a:r>
            </a:p>
          </p:txBody>
        </p:sp>
      </p:grpSp>
      <p:sp>
        <p:nvSpPr>
          <p:cNvPr id="39" name="ZoneTexte 38">
            <a:extLst>
              <a:ext uri="{FF2B5EF4-FFF2-40B4-BE49-F238E27FC236}">
                <a16:creationId xmlns:a16="http://schemas.microsoft.com/office/drawing/2014/main" id="{9E8D206F-1843-424E-BBF5-E7DD1E8084E4}"/>
              </a:ext>
            </a:extLst>
          </p:cNvPr>
          <p:cNvSpPr txBox="1"/>
          <p:nvPr/>
        </p:nvSpPr>
        <p:spPr>
          <a:xfrm>
            <a:off x="3932241" y="1146609"/>
            <a:ext cx="4001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Century Gothic" panose="020B0502020202020204" pitchFamily="34" charset="0"/>
              </a:rPr>
              <a:t>Serveur de déploiement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7E285F1B-53D1-48C8-84DC-8AA419C93BD2}"/>
              </a:ext>
            </a:extLst>
          </p:cNvPr>
          <p:cNvSpPr txBox="1"/>
          <p:nvPr/>
        </p:nvSpPr>
        <p:spPr>
          <a:xfrm>
            <a:off x="3921785" y="4911923"/>
            <a:ext cx="16610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u="sng" dirty="0">
                <a:latin typeface="Century Gothic" panose="020B0502020202020204" pitchFamily="34" charset="0"/>
              </a:rPr>
              <a:t>A installer</a:t>
            </a:r>
            <a:r>
              <a:rPr lang="fr-FR" sz="1000" dirty="0">
                <a:latin typeface="Century Gothic" panose="020B0502020202020204" pitchFamily="34" charset="0"/>
              </a:rPr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>
                <a:latin typeface="Century Gothic" panose="020B0502020202020204" pitchFamily="34" charset="0"/>
              </a:rPr>
              <a:t>IIS</a:t>
            </a:r>
            <a:endParaRPr lang="fr-FR" sz="1000" dirty="0">
              <a:latin typeface="Century Gothic" panose="020B0502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dirty="0">
                <a:latin typeface="Century Gothic" panose="020B0502020202020204" pitchFamily="34" charset="0"/>
              </a:rPr>
              <a:t>Node v20.15.1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dirty="0">
                <a:latin typeface="Century Gothic" panose="020B0502020202020204" pitchFamily="34" charset="0"/>
              </a:rPr>
              <a:t>.NET SDK v8.0.302</a:t>
            </a:r>
          </a:p>
          <a:p>
            <a:pPr marL="171450" indent="-171450" fontAlgn="ctr">
              <a:buFont typeface="Arial" panose="020B0604020202020204" pitchFamily="34" charset="0"/>
              <a:buChar char="•"/>
            </a:pPr>
            <a:r>
              <a:rPr lang="fr-FR" sz="10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 Narrow" panose="020B0004020202020204" pitchFamily="34" charset="0"/>
              </a:rPr>
              <a:t>SQL server</a:t>
            </a:r>
          </a:p>
          <a:p>
            <a:pPr marL="171450" indent="-171450" fontAlgn="ctr">
              <a:buFont typeface="Arial" panose="020B0604020202020204" pitchFamily="34" charset="0"/>
              <a:buChar char="•"/>
            </a:pPr>
            <a:r>
              <a:rPr lang="fr-MG" sz="10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mssql-tools et unixODBC </a:t>
            </a:r>
            <a:endParaRPr lang="fr-FR" sz="1000" dirty="0">
              <a:latin typeface="Century Gothic" panose="020B0502020202020204" pitchFamily="34" charset="0"/>
            </a:endParaRPr>
          </a:p>
          <a:p>
            <a:endParaRPr lang="fr-FR" sz="1000" dirty="0">
              <a:latin typeface="Century Gothic" panose="020B0502020202020204" pitchFamily="34" charset="0"/>
            </a:endParaRPr>
          </a:p>
          <a:p>
            <a:endParaRPr lang="fr-FR" sz="1000" dirty="0">
              <a:latin typeface="Century Gothic" panose="020B0502020202020204" pitchFamily="34" charset="0"/>
            </a:endParaRP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1CF1BF7C-2977-4BA1-BE5D-354A0C20590A}"/>
              </a:ext>
            </a:extLst>
          </p:cNvPr>
          <p:cNvSpPr txBox="1"/>
          <p:nvPr/>
        </p:nvSpPr>
        <p:spPr>
          <a:xfrm>
            <a:off x="5461566" y="4908876"/>
            <a:ext cx="115768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b="1" u="sng" dirty="0">
                <a:latin typeface="Century Gothic" panose="020B0502020202020204" pitchFamily="34" charset="0"/>
              </a:rPr>
              <a:t>Spécificité</a:t>
            </a:r>
            <a:r>
              <a:rPr lang="fr-FR" sz="1000" dirty="0">
                <a:latin typeface="Century Gothic" panose="020B0502020202020204" pitchFamily="34" charset="0"/>
              </a:rPr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dirty="0">
                <a:latin typeface="Century Gothic" panose="020B0502020202020204" pitchFamily="34" charset="0"/>
              </a:rPr>
              <a:t>HDD 60Go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dirty="0">
                <a:latin typeface="Century Gothic" panose="020B0502020202020204" pitchFamily="34" charset="0"/>
              </a:rPr>
              <a:t>RAM 8go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dirty="0">
                <a:latin typeface="Century Gothic" panose="020B0502020202020204" pitchFamily="34" charset="0"/>
              </a:rPr>
              <a:t>CPU 2 cœurs</a:t>
            </a:r>
          </a:p>
          <a:p>
            <a:endParaRPr lang="fr-FR" sz="1000" dirty="0"/>
          </a:p>
        </p:txBody>
      </p:sp>
      <p:grpSp>
        <p:nvGrpSpPr>
          <p:cNvPr id="42" name="Groupe 41">
            <a:extLst>
              <a:ext uri="{FF2B5EF4-FFF2-40B4-BE49-F238E27FC236}">
                <a16:creationId xmlns:a16="http://schemas.microsoft.com/office/drawing/2014/main" id="{7043A7E8-CD5D-4B33-A873-3BDAD8158E16}"/>
              </a:ext>
            </a:extLst>
          </p:cNvPr>
          <p:cNvGrpSpPr/>
          <p:nvPr/>
        </p:nvGrpSpPr>
        <p:grpSpPr>
          <a:xfrm rot="1971143">
            <a:off x="9200945" y="4358879"/>
            <a:ext cx="1288457" cy="398854"/>
            <a:chOff x="7593202" y="3542563"/>
            <a:chExt cx="2033297" cy="398854"/>
          </a:xfrm>
        </p:grpSpPr>
        <p:sp>
          <p:nvSpPr>
            <p:cNvPr id="43" name="Flèche : double flèche horizontale 42">
              <a:extLst>
                <a:ext uri="{FF2B5EF4-FFF2-40B4-BE49-F238E27FC236}">
                  <a16:creationId xmlns:a16="http://schemas.microsoft.com/office/drawing/2014/main" id="{77C0FC50-478A-40ED-87E2-4CF733BF7523}"/>
                </a:ext>
              </a:extLst>
            </p:cNvPr>
            <p:cNvSpPr/>
            <p:nvPr/>
          </p:nvSpPr>
          <p:spPr>
            <a:xfrm>
              <a:off x="7640799" y="3542563"/>
              <a:ext cx="1985700" cy="228850"/>
            </a:xfrm>
            <a:prstGeom prst="leftRightArrow">
              <a:avLst/>
            </a:prstGeom>
            <a:solidFill>
              <a:srgbClr val="1A437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4" name="ZoneTexte 43">
              <a:extLst>
                <a:ext uri="{FF2B5EF4-FFF2-40B4-BE49-F238E27FC236}">
                  <a16:creationId xmlns:a16="http://schemas.microsoft.com/office/drawing/2014/main" id="{73A4048D-F06D-49BB-8AB4-9F08650959F7}"/>
                </a:ext>
              </a:extLst>
            </p:cNvPr>
            <p:cNvSpPr txBox="1"/>
            <p:nvPr/>
          </p:nvSpPr>
          <p:spPr>
            <a:xfrm>
              <a:off x="7593202" y="3695196"/>
              <a:ext cx="198065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dirty="0">
                  <a:latin typeface="Century Gothic" panose="020B0502020202020204" pitchFamily="34" charset="0"/>
                </a:rPr>
                <a:t>Authentification</a:t>
              </a:r>
            </a:p>
          </p:txBody>
        </p:sp>
      </p:grpSp>
      <p:grpSp>
        <p:nvGrpSpPr>
          <p:cNvPr id="45" name="Groupe 44">
            <a:extLst>
              <a:ext uri="{FF2B5EF4-FFF2-40B4-BE49-F238E27FC236}">
                <a16:creationId xmlns:a16="http://schemas.microsoft.com/office/drawing/2014/main" id="{DDFE3FB4-D579-436A-94E0-E0395D8E4D94}"/>
              </a:ext>
            </a:extLst>
          </p:cNvPr>
          <p:cNvGrpSpPr/>
          <p:nvPr/>
        </p:nvGrpSpPr>
        <p:grpSpPr>
          <a:xfrm rot="20380121">
            <a:off x="7531280" y="1833417"/>
            <a:ext cx="2024520" cy="407250"/>
            <a:chOff x="7879324" y="2217343"/>
            <a:chExt cx="2024520" cy="407250"/>
          </a:xfrm>
        </p:grpSpPr>
        <p:sp>
          <p:nvSpPr>
            <p:cNvPr id="46" name="Flèche : double flèche horizontale 45">
              <a:extLst>
                <a:ext uri="{FF2B5EF4-FFF2-40B4-BE49-F238E27FC236}">
                  <a16:creationId xmlns:a16="http://schemas.microsoft.com/office/drawing/2014/main" id="{7F82A729-F4EA-465E-B4F4-2EF80902EDE6}"/>
                </a:ext>
              </a:extLst>
            </p:cNvPr>
            <p:cNvSpPr/>
            <p:nvPr/>
          </p:nvSpPr>
          <p:spPr>
            <a:xfrm>
              <a:off x="7879325" y="2395743"/>
              <a:ext cx="2024519" cy="228850"/>
            </a:xfrm>
            <a:prstGeom prst="leftRightArrow">
              <a:avLst/>
            </a:prstGeom>
            <a:solidFill>
              <a:srgbClr val="1A437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7" name="ZoneTexte 46">
              <a:extLst>
                <a:ext uri="{FF2B5EF4-FFF2-40B4-BE49-F238E27FC236}">
                  <a16:creationId xmlns:a16="http://schemas.microsoft.com/office/drawing/2014/main" id="{F23EF9C5-B474-4A37-BC92-930687654F85}"/>
                </a:ext>
              </a:extLst>
            </p:cNvPr>
            <p:cNvSpPr txBox="1"/>
            <p:nvPr/>
          </p:nvSpPr>
          <p:spPr>
            <a:xfrm>
              <a:off x="7879324" y="2217343"/>
              <a:ext cx="202451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dirty="0">
                  <a:latin typeface="Century Gothic" panose="020B0502020202020204" pitchFamily="34" charset="0"/>
                </a:rPr>
                <a:t>Requête / Réponse</a:t>
              </a:r>
            </a:p>
          </p:txBody>
        </p:sp>
      </p:grpSp>
      <p:grpSp>
        <p:nvGrpSpPr>
          <p:cNvPr id="48" name="Groupe 47">
            <a:extLst>
              <a:ext uri="{FF2B5EF4-FFF2-40B4-BE49-F238E27FC236}">
                <a16:creationId xmlns:a16="http://schemas.microsoft.com/office/drawing/2014/main" id="{25E4C925-CE73-4E61-AF23-FDE9D6EC1D75}"/>
              </a:ext>
            </a:extLst>
          </p:cNvPr>
          <p:cNvGrpSpPr/>
          <p:nvPr/>
        </p:nvGrpSpPr>
        <p:grpSpPr>
          <a:xfrm rot="5400000">
            <a:off x="7061600" y="3580045"/>
            <a:ext cx="1042621" cy="1116953"/>
            <a:chOff x="7879325" y="1853920"/>
            <a:chExt cx="2024519" cy="770673"/>
          </a:xfrm>
        </p:grpSpPr>
        <p:sp>
          <p:nvSpPr>
            <p:cNvPr id="49" name="Flèche : double flèche horizontale 48">
              <a:extLst>
                <a:ext uri="{FF2B5EF4-FFF2-40B4-BE49-F238E27FC236}">
                  <a16:creationId xmlns:a16="http://schemas.microsoft.com/office/drawing/2014/main" id="{E1C15ED1-E988-4F1A-9BEE-00114573949B}"/>
                </a:ext>
              </a:extLst>
            </p:cNvPr>
            <p:cNvSpPr/>
            <p:nvPr/>
          </p:nvSpPr>
          <p:spPr>
            <a:xfrm>
              <a:off x="7879325" y="2395743"/>
              <a:ext cx="2024519" cy="228850"/>
            </a:xfrm>
            <a:prstGeom prst="leftRightArrow">
              <a:avLst/>
            </a:prstGeom>
            <a:solidFill>
              <a:srgbClr val="1A437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0" name="ZoneTexte 49">
              <a:extLst>
                <a:ext uri="{FF2B5EF4-FFF2-40B4-BE49-F238E27FC236}">
                  <a16:creationId xmlns:a16="http://schemas.microsoft.com/office/drawing/2014/main" id="{F3C5B9E1-1F35-42C4-BD28-0B5A19BF84E8}"/>
                </a:ext>
              </a:extLst>
            </p:cNvPr>
            <p:cNvSpPr txBox="1"/>
            <p:nvPr/>
          </p:nvSpPr>
          <p:spPr>
            <a:xfrm rot="16200000">
              <a:off x="8669664" y="1650611"/>
              <a:ext cx="719385" cy="11260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dirty="0">
                  <a:latin typeface="Century Gothic" panose="020B0502020202020204" pitchFamily="34" charset="0"/>
                </a:rPr>
                <a:t>Requête / Réponse</a:t>
              </a:r>
            </a:p>
          </p:txBody>
        </p:sp>
      </p:grpSp>
      <p:grpSp>
        <p:nvGrpSpPr>
          <p:cNvPr id="51" name="Groupe 50">
            <a:extLst>
              <a:ext uri="{FF2B5EF4-FFF2-40B4-BE49-F238E27FC236}">
                <a16:creationId xmlns:a16="http://schemas.microsoft.com/office/drawing/2014/main" id="{D6197578-DC27-4587-8225-EA4119A922D4}"/>
              </a:ext>
            </a:extLst>
          </p:cNvPr>
          <p:cNvGrpSpPr/>
          <p:nvPr/>
        </p:nvGrpSpPr>
        <p:grpSpPr>
          <a:xfrm>
            <a:off x="8392669" y="3248135"/>
            <a:ext cx="1767254" cy="1103569"/>
            <a:chOff x="8392669" y="3248135"/>
            <a:chExt cx="1767254" cy="1103569"/>
          </a:xfrm>
        </p:grpSpPr>
        <p:pic>
          <p:nvPicPr>
            <p:cNvPr id="52" name="Image 51" descr="Une image contenant symbole, Graphique, capture d’écran, cercle&#10;&#10;Description générée automatiquement">
              <a:extLst>
                <a:ext uri="{FF2B5EF4-FFF2-40B4-BE49-F238E27FC236}">
                  <a16:creationId xmlns:a16="http://schemas.microsoft.com/office/drawing/2014/main" id="{AF69852F-2EDF-46D9-8B48-6F72422C2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92669" y="3355283"/>
              <a:ext cx="996421" cy="996421"/>
            </a:xfrm>
            <a:prstGeom prst="rect">
              <a:avLst/>
            </a:prstGeom>
          </p:spPr>
        </p:pic>
        <p:sp>
          <p:nvSpPr>
            <p:cNvPr id="53" name="ZoneTexte 52">
              <a:extLst>
                <a:ext uri="{FF2B5EF4-FFF2-40B4-BE49-F238E27FC236}">
                  <a16:creationId xmlns:a16="http://schemas.microsoft.com/office/drawing/2014/main" id="{2778607A-586F-46E3-945E-94A3377E1DAA}"/>
                </a:ext>
              </a:extLst>
            </p:cNvPr>
            <p:cNvSpPr txBox="1"/>
            <p:nvPr/>
          </p:nvSpPr>
          <p:spPr>
            <a:xfrm>
              <a:off x="8452404" y="3248135"/>
              <a:ext cx="170751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dirty="0">
                  <a:latin typeface="Century Gothic" panose="020B0502020202020204" pitchFamily="34" charset="0"/>
                </a:rPr>
                <a:t>Azure API Management </a:t>
              </a:r>
            </a:p>
          </p:txBody>
        </p:sp>
      </p:grpSp>
      <p:grpSp>
        <p:nvGrpSpPr>
          <p:cNvPr id="54" name="Groupe 53">
            <a:extLst>
              <a:ext uri="{FF2B5EF4-FFF2-40B4-BE49-F238E27FC236}">
                <a16:creationId xmlns:a16="http://schemas.microsoft.com/office/drawing/2014/main" id="{364BA362-A984-475E-AC74-75C0C0AEBDA9}"/>
              </a:ext>
            </a:extLst>
          </p:cNvPr>
          <p:cNvGrpSpPr/>
          <p:nvPr/>
        </p:nvGrpSpPr>
        <p:grpSpPr>
          <a:xfrm rot="1971143">
            <a:off x="7476783" y="3260371"/>
            <a:ext cx="972400" cy="398853"/>
            <a:chOff x="7593206" y="3542563"/>
            <a:chExt cx="2033293" cy="398853"/>
          </a:xfrm>
        </p:grpSpPr>
        <p:sp>
          <p:nvSpPr>
            <p:cNvPr id="55" name="Flèche : double flèche horizontale 54">
              <a:extLst>
                <a:ext uri="{FF2B5EF4-FFF2-40B4-BE49-F238E27FC236}">
                  <a16:creationId xmlns:a16="http://schemas.microsoft.com/office/drawing/2014/main" id="{9D4D4446-1E82-486B-83DA-C43EEA262568}"/>
                </a:ext>
              </a:extLst>
            </p:cNvPr>
            <p:cNvSpPr/>
            <p:nvPr/>
          </p:nvSpPr>
          <p:spPr>
            <a:xfrm>
              <a:off x="7640799" y="3542563"/>
              <a:ext cx="1985700" cy="228850"/>
            </a:xfrm>
            <a:prstGeom prst="leftRightArrow">
              <a:avLst/>
            </a:prstGeom>
            <a:solidFill>
              <a:srgbClr val="1A437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6" name="ZoneTexte 55">
              <a:extLst>
                <a:ext uri="{FF2B5EF4-FFF2-40B4-BE49-F238E27FC236}">
                  <a16:creationId xmlns:a16="http://schemas.microsoft.com/office/drawing/2014/main" id="{0D6D9417-86E8-4634-BF13-4F00783D7156}"/>
                </a:ext>
              </a:extLst>
            </p:cNvPr>
            <p:cNvSpPr txBox="1"/>
            <p:nvPr/>
          </p:nvSpPr>
          <p:spPr>
            <a:xfrm>
              <a:off x="7593206" y="3695195"/>
              <a:ext cx="198065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dirty="0">
                  <a:latin typeface="Century Gothic" panose="020B0502020202020204" pitchFamily="34" charset="0"/>
                </a:rPr>
                <a:t>Requêtes</a:t>
              </a:r>
            </a:p>
          </p:txBody>
        </p:sp>
      </p:grpSp>
      <p:sp>
        <p:nvSpPr>
          <p:cNvPr id="57" name="Ellipse 56">
            <a:extLst>
              <a:ext uri="{FF2B5EF4-FFF2-40B4-BE49-F238E27FC236}">
                <a16:creationId xmlns:a16="http://schemas.microsoft.com/office/drawing/2014/main" id="{9301D5B7-3AC9-46AB-9610-CB8FD289B2CD}"/>
              </a:ext>
            </a:extLst>
          </p:cNvPr>
          <p:cNvSpPr/>
          <p:nvPr/>
        </p:nvSpPr>
        <p:spPr>
          <a:xfrm>
            <a:off x="-1045419" y="5440546"/>
            <a:ext cx="2353007" cy="2103393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B3BE2B53-D637-4043-9A86-27EA1FE18ABD}"/>
              </a:ext>
            </a:extLst>
          </p:cNvPr>
          <p:cNvSpPr/>
          <p:nvPr/>
        </p:nvSpPr>
        <p:spPr>
          <a:xfrm>
            <a:off x="123768" y="6492242"/>
            <a:ext cx="2235446" cy="1570463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93583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B7661FD4-2ACC-44A1-99DA-E86CB8DA3A15}"/>
              </a:ext>
            </a:extLst>
          </p:cNvPr>
          <p:cNvSpPr/>
          <p:nvPr/>
        </p:nvSpPr>
        <p:spPr>
          <a:xfrm>
            <a:off x="-685800" y="-670560"/>
            <a:ext cx="1965960" cy="18440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61B12514-1902-4300-986F-7470414260C1}"/>
              </a:ext>
            </a:extLst>
          </p:cNvPr>
          <p:cNvSpPr/>
          <p:nvPr/>
        </p:nvSpPr>
        <p:spPr>
          <a:xfrm>
            <a:off x="4023360" y="5196840"/>
            <a:ext cx="3246120" cy="29108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E1956B63-C892-442D-ABAF-680FE7A93C15}"/>
              </a:ext>
            </a:extLst>
          </p:cNvPr>
          <p:cNvSpPr/>
          <p:nvPr/>
        </p:nvSpPr>
        <p:spPr>
          <a:xfrm>
            <a:off x="11506200" y="1463040"/>
            <a:ext cx="2377440" cy="234696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8D21908-741B-4D87-8656-0F416441C3BD}"/>
              </a:ext>
            </a:extLst>
          </p:cNvPr>
          <p:cNvSpPr txBox="1"/>
          <p:nvPr/>
        </p:nvSpPr>
        <p:spPr>
          <a:xfrm>
            <a:off x="1645920" y="1797784"/>
            <a:ext cx="890016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5000" b="1" dirty="0">
                <a:solidFill>
                  <a:schemeClr val="accent2">
                    <a:lumMod val="75000"/>
                  </a:schemeClr>
                </a:solidFill>
                <a:latin typeface="Coco Gothic Bold" panose="020B0604020202020204" charset="0"/>
              </a:rPr>
              <a:t>ARCHITECTURE DE L’APPLICATION</a:t>
            </a:r>
          </a:p>
        </p:txBody>
      </p:sp>
    </p:spTree>
    <p:extLst>
      <p:ext uri="{BB962C8B-B14F-4D97-AF65-F5344CB8AC3E}">
        <p14:creationId xmlns:p14="http://schemas.microsoft.com/office/powerpoint/2010/main" val="12103511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B7661FD4-2ACC-44A1-99DA-E86CB8DA3A15}"/>
              </a:ext>
            </a:extLst>
          </p:cNvPr>
          <p:cNvSpPr/>
          <p:nvPr/>
        </p:nvSpPr>
        <p:spPr>
          <a:xfrm>
            <a:off x="-685800" y="-670560"/>
            <a:ext cx="1965960" cy="18440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E1956B63-C892-442D-ABAF-680FE7A93C15}"/>
              </a:ext>
            </a:extLst>
          </p:cNvPr>
          <p:cNvSpPr/>
          <p:nvPr/>
        </p:nvSpPr>
        <p:spPr>
          <a:xfrm>
            <a:off x="11506200" y="1463040"/>
            <a:ext cx="2377440" cy="234696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9301D5B7-3AC9-46AB-9610-CB8FD289B2CD}"/>
              </a:ext>
            </a:extLst>
          </p:cNvPr>
          <p:cNvSpPr/>
          <p:nvPr/>
        </p:nvSpPr>
        <p:spPr>
          <a:xfrm>
            <a:off x="-1045419" y="5440546"/>
            <a:ext cx="2353007" cy="2103393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B3BE2B53-D637-4043-9A86-27EA1FE18ABD}"/>
              </a:ext>
            </a:extLst>
          </p:cNvPr>
          <p:cNvSpPr/>
          <p:nvPr/>
        </p:nvSpPr>
        <p:spPr>
          <a:xfrm>
            <a:off x="123768" y="6492242"/>
            <a:ext cx="2235446" cy="1570463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479AB494-047D-42E6-9C9E-E69B0A22C1A4}"/>
              </a:ext>
            </a:extLst>
          </p:cNvPr>
          <p:cNvSpPr txBox="1"/>
          <p:nvPr/>
        </p:nvSpPr>
        <p:spPr>
          <a:xfrm>
            <a:off x="1241491" y="391891"/>
            <a:ext cx="561137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500" b="1" dirty="0">
                <a:solidFill>
                  <a:srgbClr val="FFD21B"/>
                </a:solidFill>
                <a:latin typeface="Coco Gothic Bold" panose="020B0604020202020204" charset="0"/>
              </a:rPr>
              <a:t>Architecture en 4-tiers</a:t>
            </a: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4AD9D50F-EED4-4909-842E-959E95DDDAAC}"/>
              </a:ext>
            </a:extLst>
          </p:cNvPr>
          <p:cNvSpPr txBox="1"/>
          <p:nvPr/>
        </p:nvSpPr>
        <p:spPr>
          <a:xfrm>
            <a:off x="1417320" y="1463040"/>
            <a:ext cx="577596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500" b="1" dirty="0">
                <a:solidFill>
                  <a:schemeClr val="accent2">
                    <a:lumMod val="75000"/>
                  </a:schemeClr>
                </a:solidFill>
                <a:latin typeface="Coco Gothic Bold" panose="020B0604020202020204" charset="0"/>
              </a:rPr>
              <a:t>Couche de présentation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5AA96283-F02F-4465-A1A0-4F2C8667E250}"/>
              </a:ext>
            </a:extLst>
          </p:cNvPr>
          <p:cNvSpPr txBox="1"/>
          <p:nvPr/>
        </p:nvSpPr>
        <p:spPr>
          <a:xfrm>
            <a:off x="1417320" y="2331358"/>
            <a:ext cx="577596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500" b="1" dirty="0">
                <a:solidFill>
                  <a:schemeClr val="accent2">
                    <a:lumMod val="75000"/>
                  </a:schemeClr>
                </a:solidFill>
                <a:latin typeface="Coco Gothic Bold" panose="020B0604020202020204" charset="0"/>
              </a:rPr>
              <a:t>Couche de services</a:t>
            </a: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B8B37F6F-DCF3-4DB0-8CFA-B406AA810C3B}"/>
              </a:ext>
            </a:extLst>
          </p:cNvPr>
          <p:cNvSpPr txBox="1"/>
          <p:nvPr/>
        </p:nvSpPr>
        <p:spPr>
          <a:xfrm>
            <a:off x="1417320" y="3199676"/>
            <a:ext cx="827532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500" b="1" dirty="0">
                <a:solidFill>
                  <a:schemeClr val="accent2">
                    <a:lumMod val="75000"/>
                  </a:schemeClr>
                </a:solidFill>
                <a:latin typeface="Coco Gothic Bold" panose="020B0604020202020204" charset="0"/>
              </a:rPr>
              <a:t>Couche d’accès aux données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E8DDB305-7638-466D-8412-839AC7B38187}"/>
              </a:ext>
            </a:extLst>
          </p:cNvPr>
          <p:cNvSpPr txBox="1"/>
          <p:nvPr/>
        </p:nvSpPr>
        <p:spPr>
          <a:xfrm>
            <a:off x="1417320" y="4065094"/>
            <a:ext cx="827532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500" b="1" dirty="0">
                <a:solidFill>
                  <a:schemeClr val="accent2">
                    <a:lumMod val="75000"/>
                  </a:schemeClr>
                </a:solidFill>
                <a:latin typeface="Coco Gothic Bold" panose="020B0604020202020204" charset="0"/>
              </a:rPr>
              <a:t>Couche de données </a:t>
            </a:r>
          </a:p>
        </p:txBody>
      </p:sp>
    </p:spTree>
    <p:extLst>
      <p:ext uri="{BB962C8B-B14F-4D97-AF65-F5344CB8AC3E}">
        <p14:creationId xmlns:p14="http://schemas.microsoft.com/office/powerpoint/2010/main" val="33851364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61" grpId="0"/>
      <p:bldP spid="62" grpId="0"/>
      <p:bldP spid="6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B7661FD4-2ACC-44A1-99DA-E86CB8DA3A15}"/>
              </a:ext>
            </a:extLst>
          </p:cNvPr>
          <p:cNvSpPr/>
          <p:nvPr/>
        </p:nvSpPr>
        <p:spPr>
          <a:xfrm>
            <a:off x="-685800" y="-670560"/>
            <a:ext cx="1965960" cy="18440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61B12514-1902-4300-986F-7470414260C1}"/>
              </a:ext>
            </a:extLst>
          </p:cNvPr>
          <p:cNvSpPr/>
          <p:nvPr/>
        </p:nvSpPr>
        <p:spPr>
          <a:xfrm>
            <a:off x="4023360" y="5196840"/>
            <a:ext cx="3246120" cy="29108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E1956B63-C892-442D-ABAF-680FE7A93C15}"/>
              </a:ext>
            </a:extLst>
          </p:cNvPr>
          <p:cNvSpPr/>
          <p:nvPr/>
        </p:nvSpPr>
        <p:spPr>
          <a:xfrm>
            <a:off x="11506200" y="1463040"/>
            <a:ext cx="2377440" cy="234696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8D21908-741B-4D87-8656-0F416441C3BD}"/>
              </a:ext>
            </a:extLst>
          </p:cNvPr>
          <p:cNvSpPr txBox="1"/>
          <p:nvPr/>
        </p:nvSpPr>
        <p:spPr>
          <a:xfrm>
            <a:off x="1645920" y="2567226"/>
            <a:ext cx="890016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5000" b="1" dirty="0">
                <a:solidFill>
                  <a:schemeClr val="accent2">
                    <a:lumMod val="75000"/>
                  </a:schemeClr>
                </a:solidFill>
                <a:latin typeface="Coco Gothic Bold" panose="020B0604020202020204" charset="0"/>
              </a:rPr>
              <a:t>REALISATION</a:t>
            </a:r>
          </a:p>
        </p:txBody>
      </p:sp>
    </p:spTree>
    <p:extLst>
      <p:ext uri="{BB962C8B-B14F-4D97-AF65-F5344CB8AC3E}">
        <p14:creationId xmlns:p14="http://schemas.microsoft.com/office/powerpoint/2010/main" val="20559377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B7661FD4-2ACC-44A1-99DA-E86CB8DA3A15}"/>
              </a:ext>
            </a:extLst>
          </p:cNvPr>
          <p:cNvSpPr/>
          <p:nvPr/>
        </p:nvSpPr>
        <p:spPr>
          <a:xfrm>
            <a:off x="11351871" y="6089055"/>
            <a:ext cx="1965960" cy="18440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E1956B63-C892-442D-ABAF-680FE7A93C15}"/>
              </a:ext>
            </a:extLst>
          </p:cNvPr>
          <p:cNvSpPr/>
          <p:nvPr/>
        </p:nvSpPr>
        <p:spPr>
          <a:xfrm>
            <a:off x="11586162" y="4117115"/>
            <a:ext cx="3212862" cy="3043371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FF5EDDA-23B2-40BD-A887-2337C874D4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4259" y="429307"/>
            <a:ext cx="3634508" cy="1669019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1C1DB748-BC29-4287-BFDA-46C5DD6EFD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259" y="2540702"/>
            <a:ext cx="2585013" cy="1357132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FEB13C54-A581-4832-A53A-553C7C5CA3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5927" y="2603118"/>
            <a:ext cx="1293971" cy="1232298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3C59B942-E58E-48AD-ABE7-03EEE64F30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259" y="4787982"/>
            <a:ext cx="2916820" cy="1640711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53E872E7-C199-4D14-B86C-C7CE8741E7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4172" y="2384757"/>
            <a:ext cx="3212862" cy="1669019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4690AEA7-827E-4CA0-959C-D4C244296D5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4172" y="410500"/>
            <a:ext cx="2496825" cy="1404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8124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B7661FD4-2ACC-44A1-99DA-E86CB8DA3A15}"/>
              </a:ext>
            </a:extLst>
          </p:cNvPr>
          <p:cNvSpPr/>
          <p:nvPr/>
        </p:nvSpPr>
        <p:spPr>
          <a:xfrm>
            <a:off x="-685800" y="-670560"/>
            <a:ext cx="1965960" cy="18440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61B12514-1902-4300-986F-7470414260C1}"/>
              </a:ext>
            </a:extLst>
          </p:cNvPr>
          <p:cNvSpPr/>
          <p:nvPr/>
        </p:nvSpPr>
        <p:spPr>
          <a:xfrm>
            <a:off x="4023360" y="5196840"/>
            <a:ext cx="3246120" cy="29108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E1956B63-C892-442D-ABAF-680FE7A93C15}"/>
              </a:ext>
            </a:extLst>
          </p:cNvPr>
          <p:cNvSpPr/>
          <p:nvPr/>
        </p:nvSpPr>
        <p:spPr>
          <a:xfrm>
            <a:off x="11506200" y="1463040"/>
            <a:ext cx="2377440" cy="234696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8D21908-741B-4D87-8656-0F416441C3BD}"/>
              </a:ext>
            </a:extLst>
          </p:cNvPr>
          <p:cNvSpPr txBox="1"/>
          <p:nvPr/>
        </p:nvSpPr>
        <p:spPr>
          <a:xfrm>
            <a:off x="1645920" y="2567226"/>
            <a:ext cx="890016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5000" b="1" dirty="0">
                <a:solidFill>
                  <a:schemeClr val="accent2">
                    <a:lumMod val="75000"/>
                  </a:schemeClr>
                </a:solidFill>
                <a:latin typeface="Coco Gothic Bold" panose="020B0604020202020204" charset="0"/>
              </a:rPr>
              <a:t>DEMONSTRATION</a:t>
            </a:r>
          </a:p>
        </p:txBody>
      </p:sp>
    </p:spTree>
    <p:extLst>
      <p:ext uri="{BB962C8B-B14F-4D97-AF65-F5344CB8AC3E}">
        <p14:creationId xmlns:p14="http://schemas.microsoft.com/office/powerpoint/2010/main" val="4308454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B7661FD4-2ACC-44A1-99DA-E86CB8DA3A15}"/>
              </a:ext>
            </a:extLst>
          </p:cNvPr>
          <p:cNvSpPr/>
          <p:nvPr/>
        </p:nvSpPr>
        <p:spPr>
          <a:xfrm>
            <a:off x="-685800" y="-670560"/>
            <a:ext cx="1965960" cy="18440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61B12514-1902-4300-986F-7470414260C1}"/>
              </a:ext>
            </a:extLst>
          </p:cNvPr>
          <p:cNvSpPr/>
          <p:nvPr/>
        </p:nvSpPr>
        <p:spPr>
          <a:xfrm>
            <a:off x="4023360" y="5196840"/>
            <a:ext cx="3246120" cy="29108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E1956B63-C892-442D-ABAF-680FE7A93C15}"/>
              </a:ext>
            </a:extLst>
          </p:cNvPr>
          <p:cNvSpPr/>
          <p:nvPr/>
        </p:nvSpPr>
        <p:spPr>
          <a:xfrm>
            <a:off x="11506200" y="1463040"/>
            <a:ext cx="2377440" cy="234696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8D21908-741B-4D87-8656-0F416441C3BD}"/>
              </a:ext>
            </a:extLst>
          </p:cNvPr>
          <p:cNvSpPr txBox="1"/>
          <p:nvPr/>
        </p:nvSpPr>
        <p:spPr>
          <a:xfrm>
            <a:off x="1645920" y="2567226"/>
            <a:ext cx="890016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5000" b="1" dirty="0">
                <a:solidFill>
                  <a:schemeClr val="accent2">
                    <a:lumMod val="75000"/>
                  </a:schemeClr>
                </a:solidFill>
                <a:latin typeface="Coco Gothic Bold" panose="020B0604020202020204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3609759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318946" y="364287"/>
            <a:ext cx="11554109" cy="6177647"/>
          </a:xfrm>
          <a:prstGeom prst="rect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txBody>
          <a:bodyPr lIns="33867" tIns="33867" rIns="33867" bIns="33867" rtlCol="0" anchor="ctr"/>
          <a:lstStyle/>
          <a:p>
            <a:pPr algn="ctr">
              <a:lnSpc>
                <a:spcPts val="970"/>
              </a:lnSpc>
            </a:pPr>
            <a:endParaRPr sz="1200"/>
          </a:p>
        </p:txBody>
      </p:sp>
      <p:sp>
        <p:nvSpPr>
          <p:cNvPr id="5" name="TextBox 5"/>
          <p:cNvSpPr txBox="1"/>
          <p:nvPr/>
        </p:nvSpPr>
        <p:spPr>
          <a:xfrm>
            <a:off x="914400" y="1149414"/>
            <a:ext cx="9942653" cy="16414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00"/>
              </a:lnSpc>
            </a:pPr>
            <a:r>
              <a:rPr lang="en-US" sz="6666" b="1" dirty="0">
                <a:solidFill>
                  <a:srgbClr val="FFD21B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MERCI de votre attention!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8AA8743-4765-4DC8-A4FA-CDED6D91B2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7669" y="3779040"/>
            <a:ext cx="3263900" cy="2298700"/>
          </a:xfrm>
          <a:prstGeom prst="rect">
            <a:avLst/>
          </a:prstGeom>
        </p:spPr>
      </p:pic>
      <p:sp>
        <p:nvSpPr>
          <p:cNvPr id="9" name="TextBox 6">
            <a:extLst>
              <a:ext uri="{FF2B5EF4-FFF2-40B4-BE49-F238E27FC236}">
                <a16:creationId xmlns:a16="http://schemas.microsoft.com/office/drawing/2014/main" id="{AB2678A6-B469-489D-B56E-403B531EDD0B}"/>
              </a:ext>
            </a:extLst>
          </p:cNvPr>
          <p:cNvSpPr txBox="1"/>
          <p:nvPr/>
        </p:nvSpPr>
        <p:spPr>
          <a:xfrm>
            <a:off x="3737010" y="3007070"/>
            <a:ext cx="5065219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sz="2499" dirty="0">
                <a:solidFill>
                  <a:schemeClr val="accent2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C’</a:t>
            </a:r>
            <a:r>
              <a:rPr lang="fr-FR" sz="2499" dirty="0">
                <a:solidFill>
                  <a:schemeClr val="accent2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 était Johanne RAZAFIMAHEFA</a:t>
            </a:r>
            <a:endParaRPr lang="en-US" sz="2499" dirty="0">
              <a:solidFill>
                <a:schemeClr val="accent2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</TotalTime>
  <Words>1376</Words>
  <Application>Microsoft Office PowerPoint</Application>
  <PresentationFormat>Grand écran</PresentationFormat>
  <Paragraphs>192</Paragraphs>
  <Slides>26</Slides>
  <Notes>25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4" baseType="lpstr">
      <vt:lpstr>Aptos Narrow</vt:lpstr>
      <vt:lpstr>Arial</vt:lpstr>
      <vt:lpstr>Calibri</vt:lpstr>
      <vt:lpstr>Calibri Light</vt:lpstr>
      <vt:lpstr>Century Gothic</vt:lpstr>
      <vt:lpstr>Coco Gothic Bold</vt:lpstr>
      <vt:lpstr>Poppins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Silver</dc:creator>
  <cp:lastModifiedBy>Silver</cp:lastModifiedBy>
  <cp:revision>54</cp:revision>
  <dcterms:created xsi:type="dcterms:W3CDTF">2024-11-21T16:13:54Z</dcterms:created>
  <dcterms:modified xsi:type="dcterms:W3CDTF">2024-11-21T22:44:39Z</dcterms:modified>
</cp:coreProperties>
</file>